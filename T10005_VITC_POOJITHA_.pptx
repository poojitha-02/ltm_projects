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Times New Roman MT" panose="020B0604020202020204" charset="0"/>
      <p:regular r:id="rId8"/>
    </p:embeddedFont>
    <p:embeddedFont>
      <p:font typeface="Times New Roman MT Bold"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psparks/instacart-market-basket-analysis"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1447800" y="7763317"/>
            <a:ext cx="1077509" cy="0"/>
          </a:xfrm>
          <a:prstGeom prst="line">
            <a:avLst/>
          </a:prstGeom>
          <a:ln w="95250" cap="flat">
            <a:solidFill>
              <a:srgbClr val="FF5347"/>
            </a:solidFill>
            <a:prstDash val="solid"/>
            <a:headEnd type="none" w="sm" len="sm"/>
            <a:tailEnd type="none" w="sm" len="sm"/>
          </a:ln>
        </p:spPr>
        <p:txBody>
          <a:bodyPr/>
          <a:lstStyle/>
          <a:p>
            <a:endParaRPr lang="en-IN"/>
          </a:p>
        </p:txBody>
      </p:sp>
      <p:sp>
        <p:nvSpPr>
          <p:cNvPr id="3" name="Freeform 3"/>
          <p:cNvSpPr/>
          <p:nvPr/>
        </p:nvSpPr>
        <p:spPr>
          <a:xfrm flipH="1" flipV="1">
            <a:off x="11673891" y="0"/>
            <a:ext cx="6614109" cy="10287000"/>
          </a:xfrm>
          <a:custGeom>
            <a:avLst/>
            <a:gdLst/>
            <a:ahLst/>
            <a:cxnLst/>
            <a:rect l="l" t="t" r="r" b="b"/>
            <a:pathLst>
              <a:path w="6614109" h="10287000">
                <a:moveTo>
                  <a:pt x="6614109" y="10287000"/>
                </a:moveTo>
                <a:lnTo>
                  <a:pt x="0" y="10287000"/>
                </a:lnTo>
                <a:lnTo>
                  <a:pt x="0" y="0"/>
                </a:lnTo>
                <a:lnTo>
                  <a:pt x="6614109" y="0"/>
                </a:lnTo>
                <a:lnTo>
                  <a:pt x="6614109" y="10287000"/>
                </a:lnTo>
                <a:close/>
              </a:path>
            </a:pathLst>
          </a:custGeom>
          <a:blipFill>
            <a:blip r:embed="rId2"/>
            <a:stretch>
              <a:fillRect l="-99999" t="-14295" b="-14295"/>
            </a:stretch>
          </a:blipFill>
        </p:spPr>
        <p:txBody>
          <a:bodyPr/>
          <a:lstStyle/>
          <a:p>
            <a:endParaRPr lang="en-IN"/>
          </a:p>
        </p:txBody>
      </p:sp>
      <p:sp>
        <p:nvSpPr>
          <p:cNvPr id="4" name="TextBox 4"/>
          <p:cNvSpPr txBox="1"/>
          <p:nvPr/>
        </p:nvSpPr>
        <p:spPr>
          <a:xfrm>
            <a:off x="1394972" y="3546475"/>
            <a:ext cx="5337600" cy="3575050"/>
          </a:xfrm>
          <a:prstGeom prst="rect">
            <a:avLst/>
          </a:prstGeom>
        </p:spPr>
        <p:txBody>
          <a:bodyPr lIns="0" tIns="0" rIns="0" bIns="0" rtlCol="0" anchor="t">
            <a:spAutoFit/>
          </a:bodyPr>
          <a:lstStyle/>
          <a:p>
            <a:pPr algn="l">
              <a:lnSpc>
                <a:spcPts val="5599"/>
              </a:lnSpc>
            </a:pPr>
            <a:r>
              <a:rPr lang="en-US" sz="3999" b="1" spc="19">
                <a:solidFill>
                  <a:srgbClr val="000000"/>
                </a:solidFill>
                <a:latin typeface="Times New Roman MT Bold"/>
                <a:ea typeface="Times New Roman MT Bold"/>
                <a:cs typeface="Times New Roman MT Bold"/>
                <a:sym typeface="Times New Roman MT Bold"/>
              </a:rPr>
              <a:t>Name</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Roll number</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Registered email address</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Institution </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Course</a:t>
            </a:r>
          </a:p>
        </p:txBody>
      </p:sp>
      <p:sp>
        <p:nvSpPr>
          <p:cNvPr id="5" name="TextBox 5"/>
          <p:cNvSpPr txBox="1"/>
          <p:nvPr/>
        </p:nvSpPr>
        <p:spPr>
          <a:xfrm>
            <a:off x="6732572" y="3556000"/>
            <a:ext cx="285383" cy="3575050"/>
          </a:xfrm>
          <a:prstGeom prst="rect">
            <a:avLst/>
          </a:prstGeom>
        </p:spPr>
        <p:txBody>
          <a:bodyPr lIns="0" tIns="0" rIns="0" bIns="0" rtlCol="0" anchor="t">
            <a:spAutoFit/>
          </a:bodyPr>
          <a:lstStyle/>
          <a:p>
            <a:pPr algn="l">
              <a:lnSpc>
                <a:spcPts val="5599"/>
              </a:lnSpc>
            </a:pPr>
            <a:r>
              <a:rPr lang="en-US" sz="3999" b="1" spc="19">
                <a:solidFill>
                  <a:srgbClr val="000000"/>
                </a:solidFill>
                <a:latin typeface="Times New Roman MT Bold"/>
                <a:ea typeface="Times New Roman MT Bold"/>
                <a:cs typeface="Times New Roman MT Bold"/>
                <a:sym typeface="Times New Roman MT Bold"/>
              </a:rPr>
              <a:t>:</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a:t>
            </a:r>
          </a:p>
        </p:txBody>
      </p:sp>
      <p:sp>
        <p:nvSpPr>
          <p:cNvPr id="6" name="TextBox 6"/>
          <p:cNvSpPr txBox="1"/>
          <p:nvPr/>
        </p:nvSpPr>
        <p:spPr>
          <a:xfrm>
            <a:off x="7017955" y="3556000"/>
            <a:ext cx="5568481" cy="3575050"/>
          </a:xfrm>
          <a:prstGeom prst="rect">
            <a:avLst/>
          </a:prstGeom>
        </p:spPr>
        <p:txBody>
          <a:bodyPr lIns="0" tIns="0" rIns="0" bIns="0" rtlCol="0" anchor="t">
            <a:spAutoFit/>
          </a:bodyPr>
          <a:lstStyle/>
          <a:p>
            <a:pPr algn="l">
              <a:lnSpc>
                <a:spcPts val="5599"/>
              </a:lnSpc>
            </a:pPr>
            <a:r>
              <a:rPr lang="en-US" sz="3999" b="1" spc="19">
                <a:solidFill>
                  <a:srgbClr val="000000"/>
                </a:solidFill>
                <a:latin typeface="Times New Roman MT Bold"/>
                <a:ea typeface="Times New Roman MT Bold"/>
                <a:cs typeface="Times New Roman MT Bold"/>
                <a:sym typeface="Times New Roman MT Bold"/>
              </a:rPr>
              <a:t>Poojitha D</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25MAS1005</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poojithad254@gmail.com</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VIT Chennai</a:t>
            </a:r>
          </a:p>
          <a:p>
            <a:pPr algn="l">
              <a:lnSpc>
                <a:spcPts val="5599"/>
              </a:lnSpc>
            </a:pPr>
            <a:r>
              <a:rPr lang="en-US" sz="3999" b="1" spc="19">
                <a:solidFill>
                  <a:srgbClr val="000000"/>
                </a:solidFill>
                <a:latin typeface="Times New Roman MT Bold"/>
                <a:ea typeface="Times New Roman MT Bold"/>
                <a:cs typeface="Times New Roman MT Bold"/>
                <a:sym typeface="Times New Roman MT Bold"/>
              </a:rPr>
              <a:t>M.Tech AI &amp; DS</a:t>
            </a:r>
          </a:p>
        </p:txBody>
      </p:sp>
      <p:sp>
        <p:nvSpPr>
          <p:cNvPr id="7" name="TextBox 7"/>
          <p:cNvSpPr txBox="1"/>
          <p:nvPr/>
        </p:nvSpPr>
        <p:spPr>
          <a:xfrm>
            <a:off x="13317887" y="8493126"/>
            <a:ext cx="3941413" cy="765174"/>
          </a:xfrm>
          <a:prstGeom prst="rect">
            <a:avLst/>
          </a:prstGeom>
        </p:spPr>
        <p:txBody>
          <a:bodyPr lIns="0" tIns="0" rIns="0" bIns="0" rtlCol="0" anchor="t">
            <a:spAutoFit/>
          </a:bodyPr>
          <a:lstStyle/>
          <a:p>
            <a:pPr algn="l">
              <a:lnSpc>
                <a:spcPts val="5600"/>
              </a:lnSpc>
            </a:pPr>
            <a:r>
              <a:rPr lang="en-US" sz="4000" b="1" spc="20">
                <a:solidFill>
                  <a:srgbClr val="000000"/>
                </a:solidFill>
                <a:latin typeface="Times New Roman MT Bold"/>
                <a:ea typeface="Times New Roman MT Bold"/>
                <a:cs typeface="Times New Roman MT Bold"/>
                <a:sym typeface="Times New Roman MT Bold"/>
              </a:rPr>
              <a:t>REVIEW NO. - 0</a:t>
            </a:r>
          </a:p>
        </p:txBody>
      </p:sp>
      <p:sp>
        <p:nvSpPr>
          <p:cNvPr id="8" name="TextBox 8"/>
          <p:cNvSpPr txBox="1"/>
          <p:nvPr/>
        </p:nvSpPr>
        <p:spPr>
          <a:xfrm>
            <a:off x="5249282" y="1353963"/>
            <a:ext cx="7789437" cy="873760"/>
          </a:xfrm>
          <a:prstGeom prst="rect">
            <a:avLst/>
          </a:prstGeom>
        </p:spPr>
        <p:txBody>
          <a:bodyPr lIns="0" tIns="0" rIns="0" bIns="0" rtlCol="0" anchor="t">
            <a:spAutoFit/>
          </a:bodyPr>
          <a:lstStyle/>
          <a:p>
            <a:pPr algn="ctr">
              <a:lnSpc>
                <a:spcPts val="6440"/>
              </a:lnSpc>
            </a:pPr>
            <a:r>
              <a:rPr lang="en-US" sz="4600" b="1" spc="23">
                <a:solidFill>
                  <a:srgbClr val="000000"/>
                </a:solidFill>
                <a:latin typeface="Times New Roman MT Bold"/>
                <a:ea typeface="Times New Roman MT Bold"/>
                <a:cs typeface="Times New Roman MT Bold"/>
                <a:sym typeface="Times New Roman MT Bold"/>
              </a:rPr>
              <a:t>INDIVIDUAL PROJECTS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926086" y="2478722"/>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3" name="TextBox 3"/>
          <p:cNvSpPr txBox="1"/>
          <p:nvPr/>
        </p:nvSpPr>
        <p:spPr>
          <a:xfrm>
            <a:off x="907036" y="1855250"/>
            <a:ext cx="9731335"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PROBLEM STATEMENT</a:t>
            </a:r>
          </a:p>
        </p:txBody>
      </p:sp>
      <p:sp>
        <p:nvSpPr>
          <p:cNvPr id="4" name="TextBox 4"/>
          <p:cNvSpPr txBox="1"/>
          <p:nvPr/>
        </p:nvSpPr>
        <p:spPr>
          <a:xfrm>
            <a:off x="907036" y="2573972"/>
            <a:ext cx="16435828" cy="1410335"/>
          </a:xfrm>
          <a:prstGeom prst="rect">
            <a:avLst/>
          </a:prstGeom>
        </p:spPr>
        <p:txBody>
          <a:bodyPr lIns="0" tIns="0" rIns="0" bIns="0" rtlCol="0" anchor="t">
            <a:spAutoFit/>
          </a:bodyPr>
          <a:lstStyle/>
          <a:p>
            <a:pPr marL="0" lvl="0" indent="0" algn="just">
              <a:lnSpc>
                <a:spcPts val="3640"/>
              </a:lnSpc>
            </a:pPr>
            <a:r>
              <a:rPr lang="en-US" sz="2600" spc="0">
                <a:solidFill>
                  <a:srgbClr val="000000">
                    <a:alpha val="69804"/>
                  </a:srgbClr>
                </a:solidFill>
                <a:latin typeface="Times New Roman MT"/>
                <a:ea typeface="Times New Roman MT"/>
                <a:cs typeface="Times New Roman MT"/>
                <a:sym typeface="Times New Roman MT"/>
              </a:rPr>
              <a:t>Digital payment reliability varies across banks, but raw decline rates don’t reveal the</a:t>
            </a:r>
            <a:r>
              <a:rPr lang="en-US" sz="2600" b="1" spc="0">
                <a:solidFill>
                  <a:srgbClr val="000000">
                    <a:alpha val="69804"/>
                  </a:srgbClr>
                </a:solidFill>
                <a:latin typeface="Times New Roman MT Bold"/>
                <a:ea typeface="Times New Roman MT Bold"/>
                <a:cs typeface="Times New Roman MT Bold"/>
                <a:sym typeface="Times New Roman MT Bold"/>
              </a:rPr>
              <a:t> underlying bank-side issues. </a:t>
            </a:r>
            <a:r>
              <a:rPr lang="en-US" sz="2600" spc="0">
                <a:solidFill>
                  <a:srgbClr val="000000">
                    <a:alpha val="69804"/>
                  </a:srgbClr>
                </a:solidFill>
                <a:latin typeface="Times New Roman MT"/>
                <a:ea typeface="Times New Roman MT"/>
                <a:cs typeface="Times New Roman MT"/>
                <a:sym typeface="Times New Roman MT"/>
              </a:rPr>
              <a:t>Technical failures such as </a:t>
            </a:r>
            <a:r>
              <a:rPr lang="en-US" sz="2600" b="1" spc="0">
                <a:solidFill>
                  <a:srgbClr val="000000">
                    <a:alpha val="69804"/>
                  </a:srgbClr>
                </a:solidFill>
                <a:latin typeface="Times New Roman MT Bold"/>
                <a:ea typeface="Times New Roman MT Bold"/>
                <a:cs typeface="Times New Roman MT Bold"/>
                <a:sym typeface="Times New Roman MT Bold"/>
              </a:rPr>
              <a:t>failed/delayed reversals, transaction timeouts, and processing errors</a:t>
            </a:r>
            <a:r>
              <a:rPr lang="en-US" sz="2600" spc="0">
                <a:solidFill>
                  <a:srgbClr val="000000">
                    <a:alpha val="69804"/>
                  </a:srgbClr>
                </a:solidFill>
                <a:latin typeface="Times New Roman MT"/>
                <a:ea typeface="Times New Roman MT"/>
                <a:cs typeface="Times New Roman MT"/>
                <a:sym typeface="Times New Roman MT"/>
              </a:rPr>
              <a:t> can trigger </a:t>
            </a:r>
            <a:r>
              <a:rPr lang="en-US" sz="2600" b="1" spc="0">
                <a:solidFill>
                  <a:srgbClr val="000000">
                    <a:alpha val="69804"/>
                  </a:srgbClr>
                </a:solidFill>
                <a:latin typeface="Times New Roman MT Bold"/>
                <a:ea typeface="Times New Roman MT Bold"/>
                <a:cs typeface="Times New Roman MT Bold"/>
                <a:sym typeface="Times New Roman MT Bold"/>
              </a:rPr>
              <a:t>Business Declines (BD)</a:t>
            </a:r>
            <a:r>
              <a:rPr lang="en-US" sz="2600" spc="0">
                <a:solidFill>
                  <a:srgbClr val="000000">
                    <a:alpha val="69804"/>
                  </a:srgbClr>
                </a:solidFill>
                <a:latin typeface="Times New Roman MT"/>
                <a:ea typeface="Times New Roman MT"/>
                <a:cs typeface="Times New Roman MT"/>
                <a:sym typeface="Times New Roman MT"/>
              </a:rPr>
              <a:t>, causing </a:t>
            </a:r>
            <a:r>
              <a:rPr lang="en-US" sz="2600" b="1" spc="0">
                <a:solidFill>
                  <a:srgbClr val="000000">
                    <a:alpha val="69804"/>
                  </a:srgbClr>
                </a:solidFill>
                <a:latin typeface="Times New Roman MT Bold"/>
                <a:ea typeface="Times New Roman MT Bold"/>
                <a:cs typeface="Times New Roman MT Bold"/>
                <a:sym typeface="Times New Roman MT Bold"/>
              </a:rPr>
              <a:t>customer distrust and poor payment experience.</a:t>
            </a:r>
          </a:p>
        </p:txBody>
      </p:sp>
      <p:sp>
        <p:nvSpPr>
          <p:cNvPr id="5" name="AutoShape 5"/>
          <p:cNvSpPr/>
          <p:nvPr/>
        </p:nvSpPr>
        <p:spPr>
          <a:xfrm>
            <a:off x="926086" y="4584382"/>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6" name="TextBox 6"/>
          <p:cNvSpPr txBox="1"/>
          <p:nvPr/>
        </p:nvSpPr>
        <p:spPr>
          <a:xfrm>
            <a:off x="907036" y="3984307"/>
            <a:ext cx="9731335"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OBJECTIVES</a:t>
            </a:r>
          </a:p>
        </p:txBody>
      </p:sp>
      <p:sp>
        <p:nvSpPr>
          <p:cNvPr id="7" name="TextBox 7"/>
          <p:cNvSpPr txBox="1"/>
          <p:nvPr/>
        </p:nvSpPr>
        <p:spPr>
          <a:xfrm>
            <a:off x="926086" y="4689157"/>
            <a:ext cx="16435828" cy="5303520"/>
          </a:xfrm>
          <a:prstGeom prst="rect">
            <a:avLst/>
          </a:prstGeom>
        </p:spPr>
        <p:txBody>
          <a:bodyPr lIns="0" tIns="0" rIns="0" bIns="0" rtlCol="0" anchor="t">
            <a:spAutoFit/>
          </a:bodyPr>
          <a:lstStyle/>
          <a:p>
            <a:pPr algn="just">
              <a:lnSpc>
                <a:spcPts val="3510"/>
              </a:lnSpc>
            </a:pPr>
            <a:r>
              <a:rPr lang="en-US" sz="2600" spc="0">
                <a:solidFill>
                  <a:srgbClr val="000000">
                    <a:alpha val="69804"/>
                  </a:srgbClr>
                </a:solidFill>
                <a:latin typeface="Times New Roman MT"/>
                <a:ea typeface="Times New Roman MT"/>
                <a:cs typeface="Times New Roman MT"/>
                <a:sym typeface="Times New Roman MT"/>
              </a:rPr>
              <a:t>To develop a </a:t>
            </a:r>
            <a:r>
              <a:rPr lang="en-US" sz="2600" b="1" spc="0">
                <a:solidFill>
                  <a:srgbClr val="000000">
                    <a:alpha val="69804"/>
                  </a:srgbClr>
                </a:solidFill>
                <a:latin typeface="Times New Roman MT Bold"/>
                <a:ea typeface="Times New Roman MT Bold"/>
                <a:cs typeface="Times New Roman MT Bold"/>
                <a:sym typeface="Times New Roman MT Bold"/>
              </a:rPr>
              <a:t>UPI reliability monitoring system</a:t>
            </a:r>
            <a:r>
              <a:rPr lang="en-US" sz="2600" spc="0">
                <a:solidFill>
                  <a:srgbClr val="000000">
                    <a:alpha val="69804"/>
                  </a:srgbClr>
                </a:solidFill>
                <a:latin typeface="Times New Roman MT"/>
                <a:ea typeface="Times New Roman MT"/>
                <a:cs typeface="Times New Roman MT"/>
                <a:sym typeface="Times New Roman MT"/>
              </a:rPr>
              <a:t> to detect, explain, and prioritize bank-level reliability shifts for better risk oversight.</a:t>
            </a:r>
          </a:p>
          <a:p>
            <a:pPr marL="561341" lvl="1" indent="-280670" algn="just">
              <a:lnSpc>
                <a:spcPts val="3510"/>
              </a:lnSpc>
              <a:buFont typeface="Arial"/>
              <a:buChar char="•"/>
            </a:pPr>
            <a:r>
              <a:rPr lang="en-US" sz="2600" b="1" spc="0">
                <a:solidFill>
                  <a:srgbClr val="000000">
                    <a:alpha val="69804"/>
                  </a:srgbClr>
                </a:solidFill>
                <a:latin typeface="Times New Roman MT Bold"/>
                <a:ea typeface="Times New Roman MT Bold"/>
                <a:cs typeface="Times New Roman MT Bold"/>
                <a:sym typeface="Times New Roman MT Bold"/>
              </a:rPr>
              <a:t>Data Engineering </a:t>
            </a:r>
            <a:r>
              <a:rPr lang="en-US" sz="2600" spc="0">
                <a:solidFill>
                  <a:srgbClr val="000000">
                    <a:alpha val="69804"/>
                  </a:srgbClr>
                </a:solidFill>
                <a:latin typeface="Times New Roman MT"/>
                <a:ea typeface="Times New Roman MT"/>
                <a:cs typeface="Times New Roman MT"/>
                <a:sym typeface="Times New Roman MT"/>
              </a:rPr>
              <a:t>— Collect, clean, and structure NPCI bank-wise transaction data into an analysis-ready monthly time series.</a:t>
            </a:r>
          </a:p>
          <a:p>
            <a:pPr marL="561341" lvl="1" indent="-280670" algn="just">
              <a:lnSpc>
                <a:spcPts val="3510"/>
              </a:lnSpc>
              <a:buFont typeface="Arial"/>
              <a:buChar char="•"/>
            </a:pPr>
            <a:r>
              <a:rPr lang="en-US" sz="2600" b="1" spc="0">
                <a:solidFill>
                  <a:srgbClr val="000000">
                    <a:alpha val="69804"/>
                  </a:srgbClr>
                </a:solidFill>
                <a:latin typeface="Times New Roman MT Bold"/>
                <a:ea typeface="Times New Roman MT Bold"/>
                <a:cs typeface="Times New Roman MT Bold"/>
                <a:sym typeface="Times New Roman MT Bold"/>
              </a:rPr>
              <a:t>Analytics &amp; Forecasting</a:t>
            </a:r>
            <a:r>
              <a:rPr lang="en-US" sz="2600" spc="0">
                <a:solidFill>
                  <a:srgbClr val="000000">
                    <a:alpha val="69804"/>
                  </a:srgbClr>
                </a:solidFill>
                <a:latin typeface="Times New Roman MT"/>
                <a:ea typeface="Times New Roman MT"/>
                <a:cs typeface="Times New Roman MT"/>
                <a:sym typeface="Times New Roman MT"/>
              </a:rPr>
              <a:t> — Apply</a:t>
            </a:r>
            <a:r>
              <a:rPr lang="en-US" sz="2600" b="1" spc="0">
                <a:solidFill>
                  <a:srgbClr val="000000">
                    <a:alpha val="69804"/>
                  </a:srgbClr>
                </a:solidFill>
                <a:latin typeface="Times New Roman MT Bold"/>
                <a:ea typeface="Times New Roman MT Bold"/>
                <a:cs typeface="Times New Roman MT Bold"/>
                <a:sym typeface="Times New Roman MT Bold"/>
              </a:rPr>
              <a:t> forecasting models </a:t>
            </a:r>
            <a:r>
              <a:rPr lang="en-US" sz="2600" spc="0">
                <a:solidFill>
                  <a:srgbClr val="000000">
                    <a:alpha val="69804"/>
                  </a:srgbClr>
                </a:solidFill>
                <a:latin typeface="Times New Roman MT"/>
                <a:ea typeface="Times New Roman MT"/>
                <a:cs typeface="Times New Roman MT"/>
                <a:sym typeface="Times New Roman MT"/>
              </a:rPr>
              <a:t>and</a:t>
            </a:r>
            <a:r>
              <a:rPr lang="en-US" sz="2600" b="1" spc="0">
                <a:solidFill>
                  <a:srgbClr val="000000">
                    <a:alpha val="69804"/>
                  </a:srgbClr>
                </a:solidFill>
                <a:latin typeface="Times New Roman MT Bold"/>
                <a:ea typeface="Times New Roman MT Bold"/>
                <a:cs typeface="Times New Roman MT Bold"/>
                <a:sym typeface="Times New Roman MT Bold"/>
              </a:rPr>
              <a:t> change-point detection </a:t>
            </a:r>
            <a:r>
              <a:rPr lang="en-US" sz="2600" spc="0">
                <a:solidFill>
                  <a:srgbClr val="000000">
                    <a:alpha val="69804"/>
                  </a:srgbClr>
                </a:solidFill>
                <a:latin typeface="Times New Roman MT"/>
                <a:ea typeface="Times New Roman MT"/>
                <a:cs typeface="Times New Roman MT"/>
                <a:sym typeface="Times New Roman MT"/>
              </a:rPr>
              <a:t>to identify expected vs. actual reliability trends.</a:t>
            </a:r>
          </a:p>
          <a:p>
            <a:pPr marL="561341" lvl="1" indent="-280670" algn="just">
              <a:lnSpc>
                <a:spcPts val="3510"/>
              </a:lnSpc>
              <a:buFont typeface="Arial"/>
              <a:buChar char="•"/>
            </a:pPr>
            <a:r>
              <a:rPr lang="en-US" sz="2600" b="1" spc="0">
                <a:solidFill>
                  <a:srgbClr val="000000">
                    <a:alpha val="69804"/>
                  </a:srgbClr>
                </a:solidFill>
                <a:latin typeface="Times New Roman MT Bold"/>
                <a:ea typeface="Times New Roman MT Bold"/>
                <a:cs typeface="Times New Roman MT Bold"/>
                <a:sym typeface="Times New Roman MT Bold"/>
              </a:rPr>
              <a:t>Risk Prioritization</a:t>
            </a:r>
            <a:r>
              <a:rPr lang="en-US" sz="2600" spc="0">
                <a:solidFill>
                  <a:srgbClr val="000000">
                    <a:alpha val="69804"/>
                  </a:srgbClr>
                </a:solidFill>
                <a:latin typeface="Times New Roman MT"/>
                <a:ea typeface="Times New Roman MT"/>
                <a:cs typeface="Times New Roman MT"/>
                <a:sym typeface="Times New Roman MT"/>
              </a:rPr>
              <a:t> — Compute a </a:t>
            </a:r>
            <a:r>
              <a:rPr lang="en-US" sz="2600" b="1" spc="0">
                <a:solidFill>
                  <a:srgbClr val="000000">
                    <a:alpha val="69804"/>
                  </a:srgbClr>
                </a:solidFill>
                <a:latin typeface="Times New Roman MT Bold"/>
                <a:ea typeface="Times New Roman MT Bold"/>
                <a:cs typeface="Times New Roman MT Bold"/>
                <a:sym typeface="Times New Roman MT Bold"/>
              </a:rPr>
              <a:t>transaction-volume-weighted Impact Score </a:t>
            </a:r>
            <a:r>
              <a:rPr lang="en-US" sz="2600" spc="0">
                <a:solidFill>
                  <a:srgbClr val="000000">
                    <a:alpha val="69804"/>
                  </a:srgbClr>
                </a:solidFill>
                <a:latin typeface="Times New Roman MT"/>
                <a:ea typeface="Times New Roman MT"/>
                <a:cs typeface="Times New Roman MT"/>
                <a:sym typeface="Times New Roman MT"/>
              </a:rPr>
              <a:t>to rank which anomalies matter most.</a:t>
            </a:r>
          </a:p>
          <a:p>
            <a:pPr marL="561341" lvl="1" indent="-280670" algn="just">
              <a:lnSpc>
                <a:spcPts val="3510"/>
              </a:lnSpc>
              <a:buFont typeface="Arial"/>
              <a:buChar char="•"/>
            </a:pPr>
            <a:r>
              <a:rPr lang="en-US" sz="2600" b="1" spc="0">
                <a:solidFill>
                  <a:srgbClr val="000000">
                    <a:alpha val="69804"/>
                  </a:srgbClr>
                </a:solidFill>
                <a:latin typeface="Times New Roman MT Bold"/>
                <a:ea typeface="Times New Roman MT Bold"/>
                <a:cs typeface="Times New Roman MT Bold"/>
                <a:sym typeface="Times New Roman MT Bold"/>
              </a:rPr>
              <a:t>GenAI Explanation Layer</a:t>
            </a:r>
            <a:r>
              <a:rPr lang="en-US" sz="2600" spc="0">
                <a:solidFill>
                  <a:srgbClr val="000000">
                    <a:alpha val="69804"/>
                  </a:srgbClr>
                </a:solidFill>
                <a:latin typeface="Times New Roman MT"/>
                <a:ea typeface="Times New Roman MT"/>
                <a:cs typeface="Times New Roman MT"/>
                <a:sym typeface="Times New Roman MT"/>
              </a:rPr>
              <a:t> — Use </a:t>
            </a:r>
            <a:r>
              <a:rPr lang="en-US" sz="2600" b="1" spc="0">
                <a:solidFill>
                  <a:srgbClr val="000000">
                    <a:alpha val="69804"/>
                  </a:srgbClr>
                </a:solidFill>
                <a:latin typeface="Times New Roman MT Bold"/>
                <a:ea typeface="Times New Roman MT Bold"/>
                <a:cs typeface="Times New Roman MT Bold"/>
                <a:sym typeface="Times New Roman MT Bold"/>
              </a:rPr>
              <a:t>RAG-based retrieval</a:t>
            </a:r>
            <a:r>
              <a:rPr lang="en-US" sz="2600" spc="0">
                <a:solidFill>
                  <a:srgbClr val="000000">
                    <a:alpha val="69804"/>
                  </a:srgbClr>
                </a:solidFill>
                <a:latin typeface="Times New Roman MT"/>
                <a:ea typeface="Times New Roman MT"/>
                <a:cs typeface="Times New Roman MT"/>
                <a:sym typeface="Times New Roman MT"/>
              </a:rPr>
              <a:t> to generate grounded, source-cited explanations for flagged anomalies.</a:t>
            </a:r>
          </a:p>
          <a:p>
            <a:pPr marL="561341" lvl="1" indent="-280670" algn="just">
              <a:lnSpc>
                <a:spcPts val="3510"/>
              </a:lnSpc>
              <a:buFont typeface="Arial"/>
              <a:buChar char="•"/>
            </a:pPr>
            <a:r>
              <a:rPr lang="en-US" sz="2600" b="1" spc="0">
                <a:solidFill>
                  <a:srgbClr val="000000">
                    <a:alpha val="69804"/>
                  </a:srgbClr>
                </a:solidFill>
                <a:latin typeface="Times New Roman MT Bold"/>
                <a:ea typeface="Times New Roman MT Bold"/>
                <a:cs typeface="Times New Roman MT Bold"/>
                <a:sym typeface="Times New Roman MT Bold"/>
              </a:rPr>
              <a:t>Dashboard &amp; Insights</a:t>
            </a:r>
            <a:r>
              <a:rPr lang="en-US" sz="2600" spc="0">
                <a:solidFill>
                  <a:srgbClr val="000000">
                    <a:alpha val="69804"/>
                  </a:srgbClr>
                </a:solidFill>
                <a:latin typeface="Times New Roman MT"/>
                <a:ea typeface="Times New Roman MT"/>
                <a:cs typeface="Times New Roman MT"/>
                <a:sym typeface="Times New Roman MT"/>
              </a:rPr>
              <a:t> — Translate flagged risks into </a:t>
            </a:r>
            <a:r>
              <a:rPr lang="en-US" sz="2600" b="1" spc="0">
                <a:solidFill>
                  <a:srgbClr val="000000">
                    <a:alpha val="69804"/>
                  </a:srgbClr>
                </a:solidFill>
                <a:latin typeface="Times New Roman MT Bold"/>
                <a:ea typeface="Times New Roman MT Bold"/>
                <a:cs typeface="Times New Roman MT Bold"/>
                <a:sym typeface="Times New Roman MT Bold"/>
              </a:rPr>
              <a:t>actionable monitoring insights</a:t>
            </a:r>
            <a:r>
              <a:rPr lang="en-US" sz="2600" spc="0">
                <a:solidFill>
                  <a:srgbClr val="000000">
                    <a:alpha val="69804"/>
                  </a:srgbClr>
                </a:solidFill>
                <a:latin typeface="Times New Roman MT"/>
                <a:ea typeface="Times New Roman MT"/>
                <a:cs typeface="Times New Roman MT"/>
                <a:sym typeface="Times New Roman MT"/>
              </a:rPr>
              <a:t> through an interactive Power BI dashboard.</a:t>
            </a:r>
          </a:p>
        </p:txBody>
      </p:sp>
      <p:sp>
        <p:nvSpPr>
          <p:cNvPr id="8" name="TextBox 8"/>
          <p:cNvSpPr txBox="1"/>
          <p:nvPr/>
        </p:nvSpPr>
        <p:spPr>
          <a:xfrm>
            <a:off x="600715" y="484986"/>
            <a:ext cx="16487135" cy="1226618"/>
          </a:xfrm>
          <a:prstGeom prst="rect">
            <a:avLst/>
          </a:prstGeom>
        </p:spPr>
        <p:txBody>
          <a:bodyPr lIns="0" tIns="0" rIns="0" bIns="0" rtlCol="0" anchor="t">
            <a:spAutoFit/>
          </a:bodyPr>
          <a:lstStyle/>
          <a:p>
            <a:pPr marL="755649" lvl="1" indent="-377824" algn="ctr">
              <a:lnSpc>
                <a:spcPts val="4899"/>
              </a:lnSpc>
              <a:buAutoNum type="arabicPeriod"/>
            </a:pPr>
            <a:r>
              <a:rPr lang="en-US" sz="3499" b="1" spc="6" dirty="0">
                <a:solidFill>
                  <a:srgbClr val="000000"/>
                </a:solidFill>
                <a:latin typeface="Times New Roman MT Bold"/>
                <a:ea typeface="Times New Roman MT Bold"/>
                <a:cs typeface="Times New Roman MT Bold"/>
                <a:sym typeface="Times New Roman MT Bold"/>
              </a:rPr>
              <a:t> UPI DIGITAL PAYMENT RELIABILITY INDEX: FORECASTING, CHANGE-POINT DETECTION &amp; RAG-BASED ANOMALY EXPLANATION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646385" y="1128944"/>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3" name="AutoShape 3"/>
          <p:cNvSpPr/>
          <p:nvPr/>
        </p:nvSpPr>
        <p:spPr>
          <a:xfrm>
            <a:off x="693044" y="6857524"/>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4" name="TextBox 4"/>
          <p:cNvSpPr txBox="1"/>
          <p:nvPr/>
        </p:nvSpPr>
        <p:spPr>
          <a:xfrm>
            <a:off x="673994" y="6191726"/>
            <a:ext cx="5421548"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EXPECTED OUTCOMES</a:t>
            </a:r>
          </a:p>
        </p:txBody>
      </p:sp>
      <p:sp>
        <p:nvSpPr>
          <p:cNvPr id="5" name="Freeform 5"/>
          <p:cNvSpPr/>
          <p:nvPr/>
        </p:nvSpPr>
        <p:spPr>
          <a:xfrm flipH="1" flipV="1">
            <a:off x="9493344" y="0"/>
            <a:ext cx="8794656" cy="10287000"/>
          </a:xfrm>
          <a:custGeom>
            <a:avLst/>
            <a:gdLst/>
            <a:ahLst/>
            <a:cxnLst/>
            <a:rect l="l" t="t" r="r" b="b"/>
            <a:pathLst>
              <a:path w="8794656" h="10287000">
                <a:moveTo>
                  <a:pt x="8794656" y="10287000"/>
                </a:moveTo>
                <a:lnTo>
                  <a:pt x="0" y="10287000"/>
                </a:lnTo>
                <a:lnTo>
                  <a:pt x="0" y="0"/>
                </a:lnTo>
                <a:lnTo>
                  <a:pt x="8794656" y="0"/>
                </a:lnTo>
                <a:lnTo>
                  <a:pt x="8794656" y="10287000"/>
                </a:lnTo>
                <a:close/>
              </a:path>
            </a:pathLst>
          </a:custGeom>
          <a:blipFill>
            <a:blip r:embed="rId2"/>
            <a:stretch>
              <a:fillRect l="-100000" t="-35492" b="-35492"/>
            </a:stretch>
          </a:blipFill>
        </p:spPr>
        <p:txBody>
          <a:bodyPr/>
          <a:lstStyle/>
          <a:p>
            <a:endParaRPr lang="en-IN"/>
          </a:p>
        </p:txBody>
      </p:sp>
      <p:sp>
        <p:nvSpPr>
          <p:cNvPr id="6" name="AutoShape 6"/>
          <p:cNvSpPr/>
          <p:nvPr/>
        </p:nvSpPr>
        <p:spPr>
          <a:xfrm>
            <a:off x="9058275" y="1057275"/>
            <a:ext cx="1077509" cy="0"/>
          </a:xfrm>
          <a:prstGeom prst="line">
            <a:avLst/>
          </a:prstGeom>
          <a:ln w="57150" cap="flat">
            <a:solidFill>
              <a:srgbClr val="FF5347"/>
            </a:solidFill>
            <a:prstDash val="solid"/>
            <a:headEnd type="none" w="sm" len="sm"/>
            <a:tailEnd type="none" w="sm" len="sm"/>
          </a:ln>
        </p:spPr>
        <p:txBody>
          <a:bodyPr/>
          <a:lstStyle/>
          <a:p>
            <a:endParaRPr lang="en-IN"/>
          </a:p>
        </p:txBody>
      </p:sp>
      <p:graphicFrame>
        <p:nvGraphicFramePr>
          <p:cNvPr id="7" name="Table 7"/>
          <p:cNvGraphicFramePr>
            <a:graphicFrameLocks noGrp="1"/>
          </p:cNvGraphicFramePr>
          <p:nvPr>
            <p:extLst>
              <p:ext uri="{D42A27DB-BD31-4B8C-83A1-F6EECF244321}">
                <p14:modId xmlns:p14="http://schemas.microsoft.com/office/powerpoint/2010/main" val="2448710900"/>
              </p:ext>
            </p:extLst>
          </p:nvPr>
        </p:nvGraphicFramePr>
        <p:xfrm>
          <a:off x="9086850" y="1262294"/>
          <a:ext cx="8516444" cy="8699221"/>
        </p:xfrm>
        <a:graphic>
          <a:graphicData uri="http://schemas.openxmlformats.org/drawingml/2006/table">
            <a:tbl>
              <a:tblPr/>
              <a:tblGrid>
                <a:gridCol w="4350324">
                  <a:extLst>
                    <a:ext uri="{9D8B030D-6E8A-4147-A177-3AD203B41FA5}">
                      <a16:colId xmlns:a16="http://schemas.microsoft.com/office/drawing/2014/main" val="20000"/>
                    </a:ext>
                  </a:extLst>
                </a:gridCol>
                <a:gridCol w="4166120">
                  <a:extLst>
                    <a:ext uri="{9D8B030D-6E8A-4147-A177-3AD203B41FA5}">
                      <a16:colId xmlns:a16="http://schemas.microsoft.com/office/drawing/2014/main" val="20001"/>
                    </a:ext>
                  </a:extLst>
                </a:gridCol>
              </a:tblGrid>
              <a:tr h="788772">
                <a:tc>
                  <a:txBody>
                    <a:bodyPr/>
                    <a:lstStyle/>
                    <a:p>
                      <a:pPr algn="ctr">
                        <a:lnSpc>
                          <a:spcPts val="3120"/>
                        </a:lnSpc>
                        <a:defRPr/>
                      </a:pPr>
                      <a:r>
                        <a:rPr lang="en-US" sz="2600" b="1" spc="5">
                          <a:solidFill>
                            <a:srgbClr val="000000"/>
                          </a:solidFill>
                          <a:latin typeface="Times New Roman MT Bold"/>
                          <a:ea typeface="Times New Roman MT Bold"/>
                          <a:cs typeface="Times New Roman MT Bold"/>
                          <a:sym typeface="Times New Roman MT Bold"/>
                        </a:rPr>
                        <a:t>Component</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b="1">
                          <a:solidFill>
                            <a:srgbClr val="000000"/>
                          </a:solidFill>
                          <a:latin typeface="Times New Roman MT Bold"/>
                          <a:ea typeface="Times New Roman MT Bold"/>
                          <a:cs typeface="Times New Roman MT Bold"/>
                          <a:sym typeface="Times New Roman MT Bold"/>
                        </a:rPr>
                        <a:t>Technology / Packages</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60794">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Data Engineering &amp; Storage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Python, Pandas, NumPy, PostgreSQL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89729">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Forecasting &amp; Change-Point Detection</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Prophet/ SARIMA/ LGBM regression</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60794">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RAG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dirty="0">
                          <a:solidFill>
                            <a:srgbClr val="000000"/>
                          </a:solidFill>
                          <a:latin typeface="Times New Roman MT"/>
                          <a:ea typeface="Times New Roman MT"/>
                          <a:cs typeface="Times New Roman MT"/>
                          <a:sym typeface="Times New Roman MT"/>
                        </a:rPr>
                        <a:t>RAG API, Sentence-Transformers</a:t>
                      </a:r>
                      <a:endParaRPr lang="en-US" sz="1100" dirty="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8772">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Risk Scoring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Pandas, NumPy</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8772">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Experiment Tracking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MLflow</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160794">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Visualization &amp; Dashboard</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Matplotlib, Seaborn, Power BI</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60794">
                <a:tc>
                  <a:txBody>
                    <a:bodyPr/>
                    <a:lstStyle/>
                    <a:p>
                      <a:pPr algn="ctr">
                        <a:lnSpc>
                          <a:spcPts val="3120"/>
                        </a:lnSpc>
                        <a:defRPr/>
                      </a:pPr>
                      <a:r>
                        <a:rPr lang="en-US" sz="2600">
                          <a:solidFill>
                            <a:srgbClr val="000000"/>
                          </a:solidFill>
                          <a:latin typeface="Times New Roman MT"/>
                          <a:ea typeface="Times New Roman MT"/>
                          <a:cs typeface="Times New Roman MT"/>
                          <a:sym typeface="Times New Roman MT"/>
                        </a:rPr>
                        <a:t>Deployment &amp; Version Control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120"/>
                        </a:lnSpc>
                        <a:defRPr/>
                      </a:pPr>
                      <a:r>
                        <a:rPr lang="en-US" sz="2600" dirty="0">
                          <a:solidFill>
                            <a:srgbClr val="000000"/>
                          </a:solidFill>
                          <a:latin typeface="Times New Roman MT"/>
                          <a:ea typeface="Times New Roman MT"/>
                          <a:cs typeface="Times New Roman MT"/>
                          <a:sym typeface="Times New Roman MT"/>
                        </a:rPr>
                        <a:t> Git/GitHub, </a:t>
                      </a:r>
                      <a:r>
                        <a:rPr lang="en-US" sz="2600" dirty="0" err="1">
                          <a:solidFill>
                            <a:srgbClr val="000000"/>
                          </a:solidFill>
                          <a:latin typeface="Times New Roman MT"/>
                          <a:ea typeface="Times New Roman MT"/>
                          <a:cs typeface="Times New Roman MT"/>
                          <a:sym typeface="Times New Roman MT"/>
                        </a:rPr>
                        <a:t>Supabase</a:t>
                      </a:r>
                      <a:r>
                        <a:rPr lang="en-US" sz="2600" dirty="0">
                          <a:solidFill>
                            <a:srgbClr val="000000"/>
                          </a:solidFill>
                          <a:latin typeface="Times New Roman MT"/>
                          <a:ea typeface="Times New Roman MT"/>
                          <a:cs typeface="Times New Roman MT"/>
                          <a:sym typeface="Times New Roman MT"/>
                        </a:rPr>
                        <a:t>/Neon (cloud DB)</a:t>
                      </a:r>
                      <a:endParaRPr lang="en-US" sz="1100" dirty="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Box 8"/>
          <p:cNvSpPr txBox="1"/>
          <p:nvPr/>
        </p:nvSpPr>
        <p:spPr>
          <a:xfrm>
            <a:off x="627335" y="433991"/>
            <a:ext cx="2137901"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DATASET</a:t>
            </a:r>
          </a:p>
        </p:txBody>
      </p:sp>
      <p:sp>
        <p:nvSpPr>
          <p:cNvPr id="9" name="TextBox 9"/>
          <p:cNvSpPr txBox="1"/>
          <p:nvPr/>
        </p:nvSpPr>
        <p:spPr>
          <a:xfrm>
            <a:off x="673994" y="1309919"/>
            <a:ext cx="8134350" cy="4610735"/>
          </a:xfrm>
          <a:prstGeom prst="rect">
            <a:avLst/>
          </a:prstGeom>
        </p:spPr>
        <p:txBody>
          <a:bodyPr lIns="0" tIns="0" rIns="0" bIns="0" rtlCol="0" anchor="t">
            <a:spAutoFit/>
          </a:bodyPr>
          <a:lstStyle/>
          <a:p>
            <a:pPr algn="just">
              <a:lnSpc>
                <a:spcPts val="3640"/>
              </a:lnSpc>
            </a:pPr>
            <a:r>
              <a:rPr lang="en-US" sz="2600" b="1" spc="2">
                <a:solidFill>
                  <a:srgbClr val="000000">
                    <a:alpha val="69804"/>
                  </a:srgbClr>
                </a:solidFill>
                <a:latin typeface="Times New Roman MT Bold"/>
                <a:ea typeface="Times New Roman MT Bold"/>
                <a:cs typeface="Times New Roman MT Bold"/>
                <a:sym typeface="Times New Roman MT Bold"/>
              </a:rPr>
              <a:t>NPCI UPI Ecosystem Statistics</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Source:</a:t>
            </a:r>
            <a:r>
              <a:rPr lang="en-US" sz="2600" spc="2">
                <a:solidFill>
                  <a:srgbClr val="000000">
                    <a:alpha val="69804"/>
                  </a:srgbClr>
                </a:solidFill>
                <a:latin typeface="Times New Roman MT"/>
                <a:ea typeface="Times New Roman MT"/>
                <a:cs typeface="Times New Roman MT"/>
                <a:sym typeface="Times New Roman MT"/>
              </a:rPr>
              <a:t> NPCI (npci.org.in) / D</a:t>
            </a:r>
            <a:r>
              <a:rPr lang="en-US" sz="2600" u="none" spc="2">
                <a:solidFill>
                  <a:srgbClr val="000000">
                    <a:alpha val="69804"/>
                  </a:srgbClr>
                </a:solidFill>
                <a:latin typeface="Times New Roman MT"/>
                <a:ea typeface="Times New Roman MT"/>
                <a:cs typeface="Times New Roman MT"/>
                <a:sym typeface="Times New Roman MT"/>
              </a:rPr>
              <a:t>a</a:t>
            </a:r>
            <a:r>
              <a:rPr lang="en-US" sz="2600" spc="2">
                <a:solidFill>
                  <a:srgbClr val="000000">
                    <a:alpha val="69804"/>
                  </a:srgbClr>
                </a:solidFill>
                <a:latin typeface="Times New Roman MT"/>
                <a:ea typeface="Times New Roman MT"/>
                <a:cs typeface="Times New Roman MT"/>
                <a:sym typeface="Times New Roman MT"/>
              </a:rPr>
              <a:t>tafu</a:t>
            </a:r>
            <a:r>
              <a:rPr lang="en-US" sz="2600" u="none" spc="2">
                <a:solidFill>
                  <a:srgbClr val="000000">
                    <a:alpha val="69804"/>
                  </a:srgbClr>
                </a:solidFill>
                <a:latin typeface="Times New Roman MT"/>
                <a:ea typeface="Times New Roman MT"/>
                <a:cs typeface="Times New Roman MT"/>
                <a:sym typeface="Times New Roman MT"/>
              </a:rPr>
              <a:t>l</a:t>
            </a:r>
            <a:r>
              <a:rPr lang="en-US" sz="2600" spc="2">
                <a:solidFill>
                  <a:srgbClr val="000000">
                    <a:alpha val="69804"/>
                  </a:srgbClr>
                </a:solidFill>
                <a:latin typeface="Times New Roman MT"/>
                <a:ea typeface="Times New Roman MT"/>
                <a:cs typeface="Times New Roman MT"/>
                <a:sym typeface="Times New Roman MT"/>
              </a:rPr>
              <a:t>.in</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Data: </a:t>
            </a:r>
            <a:r>
              <a:rPr lang="en-US" sz="2600" spc="2">
                <a:solidFill>
                  <a:srgbClr val="000000">
                    <a:alpha val="69804"/>
                  </a:srgbClr>
                </a:solidFill>
                <a:latin typeface="Times New Roman MT"/>
                <a:ea typeface="Times New Roman MT"/>
                <a:cs typeface="Times New Roman MT"/>
                <a:sym typeface="Times New Roman MT"/>
              </a:rPr>
              <a:t>Bank-wise monthly Technical Decline%, Business Decline%, and transaction volume, spanning multiple years across all major banks.</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Preparation: </a:t>
            </a:r>
            <a:r>
              <a:rPr lang="en-US" sz="2600" spc="2">
                <a:solidFill>
                  <a:srgbClr val="000000">
                    <a:alpha val="69804"/>
                  </a:srgbClr>
                </a:solidFill>
                <a:latin typeface="Times New Roman MT"/>
                <a:ea typeface="Times New Roman MT"/>
                <a:cs typeface="Times New Roman MT"/>
                <a:sym typeface="Times New Roman MT"/>
              </a:rPr>
              <a:t>Prepare rolling trend attributes (SQL window functions) in the bank-month time series; provide context to the flagged anomalies via RAG.</a:t>
            </a:r>
          </a:p>
          <a:p>
            <a:pPr marL="561341" lvl="1" indent="-280670" algn="just">
              <a:lnSpc>
                <a:spcPts val="3640"/>
              </a:lnSpc>
              <a:spcBef>
                <a:spcPct val="0"/>
              </a:spcBef>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Relevance:</a:t>
            </a:r>
            <a:r>
              <a:rPr lang="en-US" sz="2600" spc="2">
                <a:solidFill>
                  <a:srgbClr val="000000">
                    <a:alpha val="69804"/>
                  </a:srgbClr>
                </a:solidFill>
                <a:latin typeface="Times New Roman MT"/>
                <a:ea typeface="Times New Roman MT"/>
                <a:cs typeface="Times New Roman MT"/>
                <a:sym typeface="Times New Roman MT"/>
              </a:rPr>
              <a:t> Facilitates analysis of reliability trends, risk concentration, and early warning signals.</a:t>
            </a:r>
          </a:p>
        </p:txBody>
      </p:sp>
      <p:sp>
        <p:nvSpPr>
          <p:cNvPr id="10" name="TextBox 10"/>
          <p:cNvSpPr txBox="1"/>
          <p:nvPr/>
        </p:nvSpPr>
        <p:spPr>
          <a:xfrm>
            <a:off x="673994" y="7014296"/>
            <a:ext cx="8115300" cy="2781935"/>
          </a:xfrm>
          <a:prstGeom prst="rect">
            <a:avLst/>
          </a:prstGeom>
        </p:spPr>
        <p:txBody>
          <a:bodyPr lIns="0" tIns="0" rIns="0" bIns="0" rtlCol="0" anchor="t">
            <a:spAutoFit/>
          </a:bodyPr>
          <a:lstStyle/>
          <a:p>
            <a:pPr algn="just">
              <a:lnSpc>
                <a:spcPts val="3640"/>
              </a:lnSpc>
            </a:pPr>
            <a:r>
              <a:rPr lang="en-US" sz="2600" spc="2" dirty="0">
                <a:solidFill>
                  <a:srgbClr val="000000">
                    <a:alpha val="69804"/>
                  </a:srgbClr>
                </a:solidFill>
                <a:latin typeface="Times New Roman MT"/>
                <a:ea typeface="Times New Roman MT"/>
                <a:cs typeface="Times New Roman MT"/>
                <a:sym typeface="Times New Roman MT"/>
              </a:rPr>
              <a:t>Identify those banks that suffer from true reliability decline compared to stable but high levels of performance and assess the actual transaction volume effect for each. These can be used to </a:t>
            </a:r>
            <a:r>
              <a:rPr lang="en-US" sz="2600" b="1" spc="2" dirty="0">
                <a:solidFill>
                  <a:srgbClr val="000000">
                    <a:alpha val="69804"/>
                  </a:srgbClr>
                </a:solidFill>
                <a:latin typeface="Times New Roman MT Bold"/>
                <a:ea typeface="Times New Roman MT Bold"/>
                <a:cs typeface="Times New Roman MT Bold"/>
                <a:sym typeface="Times New Roman MT Bold"/>
              </a:rPr>
              <a:t>enhance regulatory oversight, risk assessment, and supervision of banks</a:t>
            </a:r>
            <a:r>
              <a:rPr lang="en-US" sz="2600" spc="2" dirty="0">
                <a:solidFill>
                  <a:srgbClr val="000000">
                    <a:alpha val="69804"/>
                  </a:srgbClr>
                </a:solidFill>
                <a:latin typeface="Times New Roman MT"/>
                <a:ea typeface="Times New Roman MT"/>
                <a:cs typeface="Times New Roman MT"/>
                <a:sym typeface="Times New Roman MT"/>
              </a:rPr>
              <a:t> via a Power BI interactive dashboard.</a:t>
            </a:r>
          </a:p>
        </p:txBody>
      </p:sp>
      <p:sp>
        <p:nvSpPr>
          <p:cNvPr id="11" name="TextBox 11"/>
          <p:cNvSpPr txBox="1"/>
          <p:nvPr/>
        </p:nvSpPr>
        <p:spPr>
          <a:xfrm>
            <a:off x="9010650" y="433991"/>
            <a:ext cx="2727932"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TECH STACK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1028700" y="2414654"/>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3" name="TextBox 3"/>
          <p:cNvSpPr txBox="1"/>
          <p:nvPr/>
        </p:nvSpPr>
        <p:spPr>
          <a:xfrm>
            <a:off x="1009650" y="1791182"/>
            <a:ext cx="9731335"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PROBLEM STATEMENT</a:t>
            </a:r>
          </a:p>
        </p:txBody>
      </p:sp>
      <p:sp>
        <p:nvSpPr>
          <p:cNvPr id="4" name="TextBox 4"/>
          <p:cNvSpPr txBox="1"/>
          <p:nvPr/>
        </p:nvSpPr>
        <p:spPr>
          <a:xfrm>
            <a:off x="1009650" y="2535872"/>
            <a:ext cx="16230600" cy="953135"/>
          </a:xfrm>
          <a:prstGeom prst="rect">
            <a:avLst/>
          </a:prstGeom>
        </p:spPr>
        <p:txBody>
          <a:bodyPr lIns="0" tIns="0" rIns="0" bIns="0" rtlCol="0" anchor="t">
            <a:spAutoFit/>
          </a:bodyPr>
          <a:lstStyle/>
          <a:p>
            <a:pPr marL="0" lvl="0" indent="0" algn="just">
              <a:lnSpc>
                <a:spcPts val="3640"/>
              </a:lnSpc>
              <a:spcBef>
                <a:spcPct val="0"/>
              </a:spcBef>
            </a:pPr>
            <a:r>
              <a:rPr lang="en-US" sz="2600" b="1" spc="2">
                <a:solidFill>
                  <a:srgbClr val="000000">
                    <a:alpha val="69804"/>
                  </a:srgbClr>
                </a:solidFill>
                <a:latin typeface="Times New Roman MT Bold"/>
                <a:ea typeface="Times New Roman MT Bold"/>
                <a:cs typeface="Times New Roman MT Bold"/>
                <a:sym typeface="Times New Roman MT Bold"/>
              </a:rPr>
              <a:t>Retail demand </a:t>
            </a:r>
            <a:r>
              <a:rPr lang="en-US" sz="2600" spc="2">
                <a:solidFill>
                  <a:srgbClr val="000000">
                    <a:alpha val="69804"/>
                  </a:srgbClr>
                </a:solidFill>
                <a:latin typeface="Times New Roman MT"/>
                <a:ea typeface="Times New Roman MT"/>
                <a:cs typeface="Times New Roman MT"/>
                <a:sym typeface="Times New Roman MT"/>
              </a:rPr>
              <a:t>varies across different </a:t>
            </a:r>
            <a:r>
              <a:rPr lang="en-US" sz="2600" b="1" spc="2">
                <a:solidFill>
                  <a:srgbClr val="000000">
                    <a:alpha val="69804"/>
                  </a:srgbClr>
                </a:solidFill>
                <a:latin typeface="Times New Roman MT Bold"/>
                <a:ea typeface="Times New Roman MT Bold"/>
                <a:cs typeface="Times New Roman MT Bold"/>
                <a:sym typeface="Times New Roman MT Bold"/>
              </a:rPr>
              <a:t>consumer needs</a:t>
            </a:r>
            <a:r>
              <a:rPr lang="en-US" sz="2600" spc="2">
                <a:solidFill>
                  <a:srgbClr val="000000">
                    <a:alpha val="69804"/>
                  </a:srgbClr>
                </a:solidFill>
                <a:latin typeface="Times New Roman MT"/>
                <a:ea typeface="Times New Roman MT"/>
                <a:cs typeface="Times New Roman MT"/>
                <a:sym typeface="Times New Roman MT"/>
              </a:rPr>
              <a:t>, yet </a:t>
            </a:r>
            <a:r>
              <a:rPr lang="en-US" sz="2600" b="1" spc="2">
                <a:solidFill>
                  <a:srgbClr val="000000">
                    <a:alpha val="69804"/>
                  </a:srgbClr>
                </a:solidFill>
                <a:latin typeface="Times New Roman MT Bold"/>
                <a:ea typeface="Times New Roman MT Bold"/>
                <a:cs typeface="Times New Roman MT Bold"/>
                <a:sym typeface="Times New Roman MT Bold"/>
              </a:rPr>
              <a:t>inventory decisions</a:t>
            </a:r>
            <a:r>
              <a:rPr lang="en-US" sz="2600" spc="2">
                <a:solidFill>
                  <a:srgbClr val="000000">
                    <a:alpha val="69804"/>
                  </a:srgbClr>
                </a:solidFill>
                <a:latin typeface="Times New Roman MT"/>
                <a:ea typeface="Times New Roman MT"/>
                <a:cs typeface="Times New Roman MT"/>
                <a:sym typeface="Times New Roman MT"/>
              </a:rPr>
              <a:t> are often based on </a:t>
            </a:r>
            <a:r>
              <a:rPr lang="en-US" sz="2600" b="1" spc="2">
                <a:solidFill>
                  <a:srgbClr val="000000">
                    <a:alpha val="69804"/>
                  </a:srgbClr>
                </a:solidFill>
                <a:latin typeface="Times New Roman MT Bold"/>
                <a:ea typeface="Times New Roman MT Bold"/>
                <a:cs typeface="Times New Roman MT Bold"/>
                <a:sym typeface="Times New Roman MT Bold"/>
              </a:rPr>
              <a:t>overall demand</a:t>
            </a:r>
            <a:r>
              <a:rPr lang="en-US" sz="2600" spc="2">
                <a:solidFill>
                  <a:srgbClr val="000000">
                    <a:alpha val="69804"/>
                  </a:srgbClr>
                </a:solidFill>
                <a:latin typeface="Times New Roman MT"/>
                <a:ea typeface="Times New Roman MT"/>
                <a:cs typeface="Times New Roman MT"/>
                <a:sym typeface="Times New Roman MT"/>
              </a:rPr>
              <a:t> rather than underlying </a:t>
            </a:r>
            <a:r>
              <a:rPr lang="en-US" sz="2600" b="1" spc="2">
                <a:solidFill>
                  <a:srgbClr val="000000">
                    <a:alpha val="69804"/>
                  </a:srgbClr>
                </a:solidFill>
                <a:latin typeface="Times New Roman MT Bold"/>
                <a:ea typeface="Times New Roman MT Bold"/>
                <a:cs typeface="Times New Roman MT Bold"/>
                <a:sym typeface="Times New Roman MT Bold"/>
              </a:rPr>
              <a:t>shopping patterns</a:t>
            </a:r>
            <a:r>
              <a:rPr lang="en-US" sz="2600" spc="2">
                <a:solidFill>
                  <a:srgbClr val="000000">
                    <a:alpha val="69804"/>
                  </a:srgbClr>
                </a:solidFill>
                <a:latin typeface="Times New Roman MT"/>
                <a:ea typeface="Times New Roman MT"/>
                <a:cs typeface="Times New Roman MT"/>
                <a:sym typeface="Times New Roman MT"/>
              </a:rPr>
              <a:t>. This can lead to </a:t>
            </a:r>
            <a:r>
              <a:rPr lang="en-US" sz="2600" b="1" spc="2">
                <a:solidFill>
                  <a:srgbClr val="000000">
                    <a:alpha val="69804"/>
                  </a:srgbClr>
                </a:solidFill>
                <a:latin typeface="Times New Roman MT Bold"/>
                <a:ea typeface="Times New Roman MT Bold"/>
                <a:cs typeface="Times New Roman MT Bold"/>
                <a:sym typeface="Times New Roman MT Bold"/>
              </a:rPr>
              <a:t>overstocking</a:t>
            </a:r>
            <a:r>
              <a:rPr lang="en-US" sz="2600" spc="2">
                <a:solidFill>
                  <a:srgbClr val="000000">
                    <a:alpha val="69804"/>
                  </a:srgbClr>
                </a:solidFill>
                <a:latin typeface="Times New Roman MT"/>
                <a:ea typeface="Times New Roman MT"/>
                <a:cs typeface="Times New Roman MT"/>
                <a:sym typeface="Times New Roman MT"/>
              </a:rPr>
              <a:t> some products while </a:t>
            </a:r>
            <a:r>
              <a:rPr lang="en-US" sz="2600" b="1" spc="2">
                <a:solidFill>
                  <a:srgbClr val="000000">
                    <a:alpha val="69804"/>
                  </a:srgbClr>
                </a:solidFill>
                <a:latin typeface="Times New Roman MT Bold"/>
                <a:ea typeface="Times New Roman MT Bold"/>
                <a:cs typeface="Times New Roman MT Bold"/>
                <a:sym typeface="Times New Roman MT Bold"/>
              </a:rPr>
              <a:t>underserving</a:t>
            </a:r>
            <a:r>
              <a:rPr lang="en-US" sz="2600" spc="2">
                <a:solidFill>
                  <a:srgbClr val="000000">
                    <a:alpha val="69804"/>
                  </a:srgbClr>
                </a:solidFill>
                <a:latin typeface="Times New Roman MT"/>
                <a:ea typeface="Times New Roman MT"/>
                <a:cs typeface="Times New Roman MT"/>
                <a:sym typeface="Times New Roman MT"/>
              </a:rPr>
              <a:t> others.</a:t>
            </a:r>
          </a:p>
        </p:txBody>
      </p:sp>
      <p:sp>
        <p:nvSpPr>
          <p:cNvPr id="5" name="AutoShape 5"/>
          <p:cNvSpPr/>
          <p:nvPr/>
        </p:nvSpPr>
        <p:spPr>
          <a:xfrm>
            <a:off x="1028700" y="4221480"/>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6" name="TextBox 6"/>
          <p:cNvSpPr txBox="1"/>
          <p:nvPr/>
        </p:nvSpPr>
        <p:spPr>
          <a:xfrm>
            <a:off x="1009650" y="3555682"/>
            <a:ext cx="9731335"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OBJECTIVES</a:t>
            </a:r>
          </a:p>
        </p:txBody>
      </p:sp>
      <p:sp>
        <p:nvSpPr>
          <p:cNvPr id="7" name="TextBox 7"/>
          <p:cNvSpPr txBox="1"/>
          <p:nvPr/>
        </p:nvSpPr>
        <p:spPr>
          <a:xfrm>
            <a:off x="1009650" y="4354830"/>
            <a:ext cx="16230600" cy="5525135"/>
          </a:xfrm>
          <a:prstGeom prst="rect">
            <a:avLst/>
          </a:prstGeom>
        </p:spPr>
        <p:txBody>
          <a:bodyPr lIns="0" tIns="0" rIns="0" bIns="0" rtlCol="0" anchor="t">
            <a:spAutoFit/>
          </a:bodyPr>
          <a:lstStyle/>
          <a:p>
            <a:pPr algn="just">
              <a:lnSpc>
                <a:spcPts val="3640"/>
              </a:lnSpc>
            </a:pPr>
            <a:r>
              <a:rPr lang="en-US" sz="2600" spc="2">
                <a:solidFill>
                  <a:srgbClr val="000000">
                    <a:alpha val="69804"/>
                  </a:srgbClr>
                </a:solidFill>
                <a:latin typeface="Times New Roman MT"/>
                <a:ea typeface="Times New Roman MT"/>
                <a:cs typeface="Times New Roman MT"/>
                <a:sym typeface="Times New Roman MT"/>
              </a:rPr>
              <a:t>To develop a </a:t>
            </a:r>
            <a:r>
              <a:rPr lang="en-US" sz="2600" b="1" spc="2">
                <a:solidFill>
                  <a:srgbClr val="000000">
                    <a:alpha val="69804"/>
                  </a:srgbClr>
                </a:solidFill>
                <a:latin typeface="Times New Roman MT Bold"/>
                <a:ea typeface="Times New Roman MT Bold"/>
                <a:cs typeface="Times New Roman MT Bold"/>
                <a:sym typeface="Times New Roman MT Bold"/>
              </a:rPr>
              <a:t>retail consumption observation system </a:t>
            </a:r>
            <a:r>
              <a:rPr lang="en-US" sz="2600" spc="2">
                <a:solidFill>
                  <a:srgbClr val="000000">
                    <a:alpha val="69804"/>
                  </a:srgbClr>
                </a:solidFill>
                <a:latin typeface="Times New Roman MT"/>
                <a:ea typeface="Times New Roman MT"/>
                <a:cs typeface="Times New Roman MT"/>
                <a:sym typeface="Times New Roman MT"/>
              </a:rPr>
              <a:t>to identify and explain </a:t>
            </a:r>
            <a:r>
              <a:rPr lang="en-US" sz="2600" b="1" spc="2">
                <a:solidFill>
                  <a:srgbClr val="000000">
                    <a:alpha val="69804"/>
                  </a:srgbClr>
                </a:solidFill>
                <a:latin typeface="Times New Roman MT Bold"/>
                <a:ea typeface="Times New Roman MT Bold"/>
                <a:cs typeface="Times New Roman MT Bold"/>
                <a:sym typeface="Times New Roman MT Bold"/>
              </a:rPr>
              <a:t>distinct shopping patterns</a:t>
            </a:r>
            <a:r>
              <a:rPr lang="en-US" sz="2600" spc="2">
                <a:solidFill>
                  <a:srgbClr val="000000">
                    <a:alpha val="69804"/>
                  </a:srgbClr>
                </a:solidFill>
                <a:latin typeface="Times New Roman MT"/>
                <a:ea typeface="Times New Roman MT"/>
                <a:cs typeface="Times New Roman MT"/>
                <a:sym typeface="Times New Roman MT"/>
              </a:rPr>
              <a:t> for better </a:t>
            </a:r>
            <a:r>
              <a:rPr lang="en-US" sz="2600" b="1" spc="2">
                <a:solidFill>
                  <a:srgbClr val="000000">
                    <a:alpha val="69804"/>
                  </a:srgbClr>
                </a:solidFill>
                <a:latin typeface="Times New Roman MT Bold"/>
                <a:ea typeface="Times New Roman MT Bold"/>
                <a:cs typeface="Times New Roman MT Bold"/>
                <a:sym typeface="Times New Roman MT Bold"/>
              </a:rPr>
              <a:t>inventory decisions. </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Data Engineering</a:t>
            </a:r>
            <a:r>
              <a:rPr lang="en-US" sz="2600" spc="2">
                <a:solidFill>
                  <a:srgbClr val="000000">
                    <a:alpha val="69804"/>
                  </a:srgbClr>
                </a:solidFill>
                <a:latin typeface="Times New Roman MT"/>
                <a:ea typeface="Times New Roman MT"/>
                <a:cs typeface="Times New Roman MT"/>
                <a:sym typeface="Times New Roman MT"/>
              </a:rPr>
              <a:t> — Collect, clean, integrate, and transform retail transaction and product data into an analysis-ready basket dataset.</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Feature Engineering</a:t>
            </a:r>
            <a:r>
              <a:rPr lang="en-US" sz="2600" spc="2">
                <a:solidFill>
                  <a:srgbClr val="000000">
                    <a:alpha val="69804"/>
                  </a:srgbClr>
                </a:solidFill>
                <a:latin typeface="Times New Roman MT"/>
                <a:ea typeface="Times New Roman MT"/>
                <a:cs typeface="Times New Roman MT"/>
                <a:sym typeface="Times New Roman MT"/>
              </a:rPr>
              <a:t> — </a:t>
            </a:r>
            <a:r>
              <a:rPr lang="en-US" sz="2600" b="1" spc="2">
                <a:solidFill>
                  <a:srgbClr val="000000">
                    <a:alpha val="69804"/>
                  </a:srgbClr>
                </a:solidFill>
                <a:latin typeface="Times New Roman MT Bold"/>
                <a:ea typeface="Times New Roman MT Bold"/>
                <a:cs typeface="Times New Roman MT Bold"/>
                <a:sym typeface="Times New Roman MT Bold"/>
              </a:rPr>
              <a:t>LLM-based product classification </a:t>
            </a:r>
            <a:r>
              <a:rPr lang="en-US" sz="2600" spc="2">
                <a:solidFill>
                  <a:srgbClr val="000000">
                    <a:alpha val="69804"/>
                  </a:srgbClr>
                </a:solidFill>
                <a:latin typeface="Times New Roman MT"/>
                <a:ea typeface="Times New Roman MT"/>
                <a:cs typeface="Times New Roman MT"/>
                <a:sym typeface="Times New Roman MT"/>
              </a:rPr>
              <a:t>to derive meaningful features representing </a:t>
            </a:r>
            <a:r>
              <a:rPr lang="en-US" sz="2600" b="1" spc="2">
                <a:solidFill>
                  <a:srgbClr val="000000">
                    <a:alpha val="69804"/>
                  </a:srgbClr>
                </a:solidFill>
                <a:latin typeface="Times New Roman MT Bold"/>
                <a:ea typeface="Times New Roman MT Bold"/>
                <a:cs typeface="Times New Roman MT Bold"/>
                <a:sym typeface="Times New Roman MT Bold"/>
              </a:rPr>
              <a:t>household orientation, shopping mission, convenience, purchase behavior, and basket behavior.</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Pattern Discovery</a:t>
            </a:r>
            <a:r>
              <a:rPr lang="en-US" sz="2600" spc="2">
                <a:solidFill>
                  <a:srgbClr val="000000">
                    <a:alpha val="69804"/>
                  </a:srgbClr>
                </a:solidFill>
                <a:latin typeface="Times New Roman MT"/>
                <a:ea typeface="Times New Roman MT"/>
                <a:cs typeface="Times New Roman MT"/>
                <a:sym typeface="Times New Roman MT"/>
              </a:rPr>
              <a:t> — Apply </a:t>
            </a:r>
            <a:r>
              <a:rPr lang="en-US" sz="2600" b="1" spc="2">
                <a:solidFill>
                  <a:srgbClr val="000000">
                    <a:alpha val="69804"/>
                  </a:srgbClr>
                </a:solidFill>
                <a:latin typeface="Times New Roman MT Bold"/>
                <a:ea typeface="Times New Roman MT Bold"/>
                <a:cs typeface="Times New Roman MT Bold"/>
                <a:sym typeface="Times New Roman MT Bold"/>
              </a:rPr>
              <a:t>unsupervised learning and clustering</a:t>
            </a:r>
            <a:r>
              <a:rPr lang="en-US" sz="2600" spc="2">
                <a:solidFill>
                  <a:srgbClr val="000000">
                    <a:alpha val="69804"/>
                  </a:srgbClr>
                </a:solidFill>
                <a:latin typeface="Times New Roman MT"/>
                <a:ea typeface="Times New Roman MT"/>
                <a:cs typeface="Times New Roman MT"/>
                <a:sym typeface="Times New Roman MT"/>
              </a:rPr>
              <a:t> to identify and characterize distinct consumption patterns.</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Comparative Analysis</a:t>
            </a:r>
            <a:r>
              <a:rPr lang="en-US" sz="2600" spc="2">
                <a:solidFill>
                  <a:srgbClr val="000000">
                    <a:alpha val="69804"/>
                  </a:srgbClr>
                </a:solidFill>
                <a:latin typeface="Times New Roman MT"/>
                <a:ea typeface="Times New Roman MT"/>
                <a:cs typeface="Times New Roman MT"/>
                <a:sym typeface="Times New Roman MT"/>
              </a:rPr>
              <a:t> — Analyze differences in </a:t>
            </a:r>
            <a:r>
              <a:rPr lang="en-US" sz="2600" b="1" spc="2">
                <a:solidFill>
                  <a:srgbClr val="000000">
                    <a:alpha val="69804"/>
                  </a:srgbClr>
                </a:solidFill>
                <a:latin typeface="Times New Roman MT Bold"/>
                <a:ea typeface="Times New Roman MT Bold"/>
                <a:cs typeface="Times New Roman MT Bold"/>
                <a:sym typeface="Times New Roman MT Bold"/>
              </a:rPr>
              <a:t>categories, brands, products, and pack sizes </a:t>
            </a:r>
            <a:r>
              <a:rPr lang="en-US" sz="2600" spc="2">
                <a:solidFill>
                  <a:srgbClr val="000000">
                    <a:alpha val="69804"/>
                  </a:srgbClr>
                </a:solidFill>
                <a:latin typeface="Times New Roman MT"/>
                <a:ea typeface="Times New Roman MT"/>
                <a:cs typeface="Times New Roman MT"/>
                <a:sym typeface="Times New Roman MT"/>
              </a:rPr>
              <a:t>across the identified consumption patterns.</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Dashboard &amp; Insights</a:t>
            </a:r>
            <a:r>
              <a:rPr lang="en-US" sz="2600" spc="2">
                <a:solidFill>
                  <a:srgbClr val="000000">
                    <a:alpha val="69804"/>
                  </a:srgbClr>
                </a:solidFill>
                <a:latin typeface="Times New Roman MT"/>
                <a:ea typeface="Times New Roman MT"/>
                <a:cs typeface="Times New Roman MT"/>
                <a:sym typeface="Times New Roman MT"/>
              </a:rPr>
              <a:t> — Translate discovered patterns into </a:t>
            </a:r>
            <a:r>
              <a:rPr lang="en-US" sz="2600" b="1" spc="2">
                <a:solidFill>
                  <a:srgbClr val="000000">
                    <a:alpha val="69804"/>
                  </a:srgbClr>
                </a:solidFill>
                <a:latin typeface="Times New Roman MT Bold"/>
                <a:ea typeface="Times New Roman MT Bold"/>
                <a:cs typeface="Times New Roman MT Bold"/>
                <a:sym typeface="Times New Roman MT Bold"/>
              </a:rPr>
              <a:t>actionable inventory and assortment insights </a:t>
            </a:r>
            <a:r>
              <a:rPr lang="en-US" sz="2600" spc="2">
                <a:solidFill>
                  <a:srgbClr val="000000">
                    <a:alpha val="69804"/>
                  </a:srgbClr>
                </a:solidFill>
                <a:latin typeface="Times New Roman MT"/>
                <a:ea typeface="Times New Roman MT"/>
                <a:cs typeface="Times New Roman MT"/>
                <a:sym typeface="Times New Roman MT"/>
              </a:rPr>
              <a:t>through an interactive dashboard.</a:t>
            </a:r>
          </a:p>
        </p:txBody>
      </p:sp>
      <p:sp>
        <p:nvSpPr>
          <p:cNvPr id="8" name="TextBox 8"/>
          <p:cNvSpPr txBox="1"/>
          <p:nvPr/>
        </p:nvSpPr>
        <p:spPr>
          <a:xfrm>
            <a:off x="828675" y="513561"/>
            <a:ext cx="16230600" cy="1226618"/>
          </a:xfrm>
          <a:prstGeom prst="rect">
            <a:avLst/>
          </a:prstGeom>
        </p:spPr>
        <p:txBody>
          <a:bodyPr lIns="0" tIns="0" rIns="0" bIns="0" rtlCol="0" anchor="t">
            <a:spAutoFit/>
          </a:bodyPr>
          <a:lstStyle/>
          <a:p>
            <a:pPr marL="377825" lvl="1" algn="ctr">
              <a:lnSpc>
                <a:spcPts val="4899"/>
              </a:lnSpc>
            </a:pPr>
            <a:r>
              <a:rPr lang="en-US" sz="3499" b="1" spc="6" dirty="0">
                <a:solidFill>
                  <a:srgbClr val="000000"/>
                </a:solidFill>
                <a:latin typeface="Times New Roman MT Bold"/>
                <a:ea typeface="Times New Roman MT Bold"/>
                <a:cs typeface="Times New Roman MT Bold"/>
                <a:sym typeface="Times New Roman MT Bold"/>
              </a:rPr>
              <a:t>2. SIGNATURE-DRIVEN INVENTORY: PROFILING SHOPPER BEHAVIOR BASKET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883544" y="1119791"/>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3" name="AutoShape 3"/>
          <p:cNvSpPr/>
          <p:nvPr/>
        </p:nvSpPr>
        <p:spPr>
          <a:xfrm>
            <a:off x="883544" y="6686446"/>
            <a:ext cx="1077509" cy="0"/>
          </a:xfrm>
          <a:prstGeom prst="line">
            <a:avLst/>
          </a:prstGeom>
          <a:ln w="57150" cap="flat">
            <a:solidFill>
              <a:srgbClr val="FF5347"/>
            </a:solidFill>
            <a:prstDash val="solid"/>
            <a:headEnd type="none" w="sm" len="sm"/>
            <a:tailEnd type="none" w="sm" len="sm"/>
          </a:ln>
        </p:spPr>
        <p:txBody>
          <a:bodyPr/>
          <a:lstStyle/>
          <a:p>
            <a:endParaRPr lang="en-IN"/>
          </a:p>
        </p:txBody>
      </p:sp>
      <p:sp>
        <p:nvSpPr>
          <p:cNvPr id="4" name="TextBox 4"/>
          <p:cNvSpPr txBox="1"/>
          <p:nvPr/>
        </p:nvSpPr>
        <p:spPr>
          <a:xfrm>
            <a:off x="864494" y="6020648"/>
            <a:ext cx="5421548"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EXPECTED OUTCOMES</a:t>
            </a:r>
          </a:p>
        </p:txBody>
      </p:sp>
      <p:sp>
        <p:nvSpPr>
          <p:cNvPr id="5" name="Freeform 5"/>
          <p:cNvSpPr/>
          <p:nvPr/>
        </p:nvSpPr>
        <p:spPr>
          <a:xfrm flipH="1" flipV="1">
            <a:off x="9493344" y="0"/>
            <a:ext cx="8794656" cy="10287000"/>
          </a:xfrm>
          <a:custGeom>
            <a:avLst/>
            <a:gdLst/>
            <a:ahLst/>
            <a:cxnLst/>
            <a:rect l="l" t="t" r="r" b="b"/>
            <a:pathLst>
              <a:path w="8794656" h="10287000">
                <a:moveTo>
                  <a:pt x="8794656" y="10287000"/>
                </a:moveTo>
                <a:lnTo>
                  <a:pt x="0" y="10287000"/>
                </a:lnTo>
                <a:lnTo>
                  <a:pt x="0" y="0"/>
                </a:lnTo>
                <a:lnTo>
                  <a:pt x="8794656" y="0"/>
                </a:lnTo>
                <a:lnTo>
                  <a:pt x="8794656" y="10287000"/>
                </a:lnTo>
                <a:close/>
              </a:path>
            </a:pathLst>
          </a:custGeom>
          <a:blipFill>
            <a:blip r:embed="rId2"/>
            <a:stretch>
              <a:fillRect l="-100000" t="-35492" b="-35492"/>
            </a:stretch>
          </a:blipFill>
        </p:spPr>
        <p:txBody>
          <a:bodyPr/>
          <a:lstStyle/>
          <a:p>
            <a:endParaRPr lang="en-IN"/>
          </a:p>
        </p:txBody>
      </p:sp>
      <p:sp>
        <p:nvSpPr>
          <p:cNvPr id="6" name="AutoShape 6"/>
          <p:cNvSpPr/>
          <p:nvPr/>
        </p:nvSpPr>
        <p:spPr>
          <a:xfrm>
            <a:off x="9643190" y="1091216"/>
            <a:ext cx="1077509" cy="0"/>
          </a:xfrm>
          <a:prstGeom prst="line">
            <a:avLst/>
          </a:prstGeom>
          <a:ln w="57150" cap="flat">
            <a:solidFill>
              <a:srgbClr val="FF5347"/>
            </a:solidFill>
            <a:prstDash val="solid"/>
            <a:headEnd type="none" w="sm" len="sm"/>
            <a:tailEnd type="none" w="sm" len="sm"/>
          </a:ln>
        </p:spPr>
        <p:txBody>
          <a:bodyPr/>
          <a:lstStyle/>
          <a:p>
            <a:endParaRPr lang="en-IN"/>
          </a:p>
        </p:txBody>
      </p:sp>
      <p:graphicFrame>
        <p:nvGraphicFramePr>
          <p:cNvPr id="7" name="Table 7"/>
          <p:cNvGraphicFramePr>
            <a:graphicFrameLocks noGrp="1"/>
          </p:cNvGraphicFramePr>
          <p:nvPr>
            <p:extLst>
              <p:ext uri="{D42A27DB-BD31-4B8C-83A1-F6EECF244321}">
                <p14:modId xmlns:p14="http://schemas.microsoft.com/office/powerpoint/2010/main" val="4094610445"/>
              </p:ext>
            </p:extLst>
          </p:nvPr>
        </p:nvGraphicFramePr>
        <p:xfrm>
          <a:off x="9643190" y="1253141"/>
          <a:ext cx="7695532" cy="8630437"/>
        </p:xfrm>
        <a:graphic>
          <a:graphicData uri="http://schemas.openxmlformats.org/drawingml/2006/table">
            <a:tbl>
              <a:tblPr/>
              <a:tblGrid>
                <a:gridCol w="4042759">
                  <a:extLst>
                    <a:ext uri="{9D8B030D-6E8A-4147-A177-3AD203B41FA5}">
                      <a16:colId xmlns:a16="http://schemas.microsoft.com/office/drawing/2014/main" val="20000"/>
                    </a:ext>
                  </a:extLst>
                </a:gridCol>
                <a:gridCol w="3652773">
                  <a:extLst>
                    <a:ext uri="{9D8B030D-6E8A-4147-A177-3AD203B41FA5}">
                      <a16:colId xmlns:a16="http://schemas.microsoft.com/office/drawing/2014/main" val="20001"/>
                    </a:ext>
                  </a:extLst>
                </a:gridCol>
              </a:tblGrid>
              <a:tr h="787105">
                <a:tc>
                  <a:txBody>
                    <a:bodyPr/>
                    <a:lstStyle/>
                    <a:p>
                      <a:pPr algn="ctr">
                        <a:lnSpc>
                          <a:spcPts val="3640"/>
                        </a:lnSpc>
                        <a:defRPr/>
                      </a:pPr>
                      <a:r>
                        <a:rPr lang="en-US" sz="2600" b="1" spc="5">
                          <a:solidFill>
                            <a:srgbClr val="000000"/>
                          </a:solidFill>
                          <a:latin typeface="Times New Roman MT Bold"/>
                          <a:ea typeface="Times New Roman MT Bold"/>
                          <a:cs typeface="Times New Roman MT Bold"/>
                          <a:sym typeface="Times New Roman MT Bold"/>
                        </a:rPr>
                        <a:t>Component</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b="1">
                          <a:solidFill>
                            <a:srgbClr val="000000"/>
                          </a:solidFill>
                          <a:latin typeface="Times New Roman MT Bold"/>
                          <a:ea typeface="Times New Roman MT Bold"/>
                          <a:cs typeface="Times New Roman MT Bold"/>
                          <a:sym typeface="Times New Roman MT Bold"/>
                        </a:rPr>
                        <a:t>Technology / Packages</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25911">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Data Engineering &amp; Storage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Python, Pandas, NumPy, PostgreSQL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25911">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LLM &amp; Feature Engineering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dirty="0">
                          <a:solidFill>
                            <a:srgbClr val="000000"/>
                          </a:solidFill>
                          <a:latin typeface="Times New Roman MT"/>
                          <a:ea typeface="Times New Roman MT"/>
                          <a:cs typeface="Times New Roman MT"/>
                          <a:sym typeface="Times New Roman MT"/>
                        </a:rPr>
                        <a:t>API, Pandas, Scikit-learn</a:t>
                      </a:r>
                      <a:endParaRPr lang="en-US" sz="1100" dirty="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52583">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ML &amp; Pattern Discovery</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Scikit-learn — K-Means/ GMM, Hierarchical Clustering/ DBSCAN/ UMAP </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7105">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Experiment Tracking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MLflow</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225911">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Visualization &amp; Dashboard</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Matplotlib, Seaborn, Power BI</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225911">
                <a:tc>
                  <a:txBody>
                    <a:bodyPr/>
                    <a:lstStyle/>
                    <a:p>
                      <a:pPr algn="ctr">
                        <a:lnSpc>
                          <a:spcPts val="3640"/>
                        </a:lnSpc>
                        <a:defRPr/>
                      </a:pPr>
                      <a:r>
                        <a:rPr lang="en-US" sz="2600">
                          <a:solidFill>
                            <a:srgbClr val="000000"/>
                          </a:solidFill>
                          <a:latin typeface="Times New Roman MT"/>
                          <a:ea typeface="Times New Roman MT"/>
                          <a:cs typeface="Times New Roman MT"/>
                          <a:sym typeface="Times New Roman MT"/>
                        </a:rPr>
                        <a:t>Deployment &amp; Version Control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640"/>
                        </a:lnSpc>
                        <a:defRPr/>
                      </a:pPr>
                      <a:r>
                        <a:rPr lang="en-US" sz="2600" dirty="0">
                          <a:solidFill>
                            <a:srgbClr val="000000"/>
                          </a:solidFill>
                          <a:latin typeface="Times New Roman MT"/>
                          <a:ea typeface="Times New Roman MT"/>
                          <a:cs typeface="Times New Roman MT"/>
                          <a:sym typeface="Times New Roman MT"/>
                        </a:rPr>
                        <a:t>Docker or Git/GitHub</a:t>
                      </a:r>
                      <a:endParaRPr lang="en-US" sz="1100" dirty="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Box 8"/>
          <p:cNvSpPr txBox="1"/>
          <p:nvPr/>
        </p:nvSpPr>
        <p:spPr>
          <a:xfrm>
            <a:off x="864494" y="481616"/>
            <a:ext cx="2137901"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DATASET</a:t>
            </a:r>
          </a:p>
        </p:txBody>
      </p:sp>
      <p:sp>
        <p:nvSpPr>
          <p:cNvPr id="9" name="TextBox 9"/>
          <p:cNvSpPr txBox="1"/>
          <p:nvPr/>
        </p:nvSpPr>
        <p:spPr>
          <a:xfrm>
            <a:off x="864494" y="1205516"/>
            <a:ext cx="8134350" cy="4610735"/>
          </a:xfrm>
          <a:prstGeom prst="rect">
            <a:avLst/>
          </a:prstGeom>
        </p:spPr>
        <p:txBody>
          <a:bodyPr lIns="0" tIns="0" rIns="0" bIns="0" rtlCol="0" anchor="t">
            <a:spAutoFit/>
          </a:bodyPr>
          <a:lstStyle/>
          <a:p>
            <a:pPr algn="just">
              <a:lnSpc>
                <a:spcPts val="3640"/>
              </a:lnSpc>
            </a:pPr>
            <a:r>
              <a:rPr lang="en-US" sz="2600" b="1" spc="2">
                <a:solidFill>
                  <a:srgbClr val="000000">
                    <a:alpha val="69804"/>
                  </a:srgbClr>
                </a:solidFill>
                <a:latin typeface="Times New Roman MT Bold"/>
                <a:ea typeface="Times New Roman MT Bold"/>
                <a:cs typeface="Times New Roman MT Bold"/>
                <a:sym typeface="Times New Roman MT Bold"/>
              </a:rPr>
              <a:t>Instacart Market Basket Analysis</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Source: </a:t>
            </a:r>
            <a:r>
              <a:rPr lang="en-US" sz="2600" u="sng" spc="2">
                <a:solidFill>
                  <a:srgbClr val="000000">
                    <a:alpha val="69804"/>
                  </a:srgbClr>
                </a:solidFill>
                <a:latin typeface="Times New Roman MT"/>
                <a:ea typeface="Times New Roman MT"/>
                <a:cs typeface="Times New Roman MT"/>
                <a:sym typeface="Times New Roman MT"/>
                <a:hlinkClick r:id="rId3" tooltip="https://www.kaggle.com/datasets/psparks/instacart-market-basket-analysis"/>
              </a:rPr>
              <a:t>Kaggle</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Data: </a:t>
            </a:r>
            <a:r>
              <a:rPr lang="en-US" sz="2600" spc="2">
                <a:solidFill>
                  <a:srgbClr val="000000">
                    <a:alpha val="69804"/>
                  </a:srgbClr>
                </a:solidFill>
                <a:latin typeface="Times New Roman MT"/>
                <a:ea typeface="Times New Roman MT"/>
                <a:cs typeface="Times New Roman MT"/>
                <a:sym typeface="Times New Roman MT"/>
              </a:rPr>
              <a:t>3M+ anonymized grocery orders from 200K+ users, with product, category, timing, and reorder information.</a:t>
            </a:r>
          </a:p>
          <a:p>
            <a:pPr marL="561341" lvl="1" indent="-280670" algn="just">
              <a:lnSpc>
                <a:spcPts val="3640"/>
              </a:lnSpc>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Preparation: </a:t>
            </a:r>
            <a:r>
              <a:rPr lang="en-US" sz="2600" spc="2">
                <a:solidFill>
                  <a:srgbClr val="000000">
                    <a:alpha val="69804"/>
                  </a:srgbClr>
                </a:solidFill>
                <a:latin typeface="Times New Roman MT"/>
                <a:ea typeface="Times New Roman MT"/>
                <a:cs typeface="Times New Roman MT"/>
                <a:sym typeface="Times New Roman MT"/>
              </a:rPr>
              <a:t>Clean, join, and aggregate transactions into basket-level data; derive additional product attributes using LLM.</a:t>
            </a:r>
          </a:p>
          <a:p>
            <a:pPr marL="561341" lvl="1" indent="-280670" algn="just">
              <a:lnSpc>
                <a:spcPts val="3640"/>
              </a:lnSpc>
              <a:spcBef>
                <a:spcPct val="0"/>
              </a:spcBef>
              <a:buFont typeface="Arial"/>
              <a:buChar char="•"/>
            </a:pPr>
            <a:r>
              <a:rPr lang="en-US" sz="2600" b="1" spc="2">
                <a:solidFill>
                  <a:srgbClr val="000000">
                    <a:alpha val="69804"/>
                  </a:srgbClr>
                </a:solidFill>
                <a:latin typeface="Times New Roman MT Bold"/>
                <a:ea typeface="Times New Roman MT Bold"/>
                <a:cs typeface="Times New Roman MT Bold"/>
                <a:sym typeface="Times New Roman MT Bold"/>
              </a:rPr>
              <a:t>Relevance: </a:t>
            </a:r>
            <a:r>
              <a:rPr lang="en-US" sz="2600" spc="2">
                <a:solidFill>
                  <a:srgbClr val="000000">
                    <a:alpha val="69804"/>
                  </a:srgbClr>
                </a:solidFill>
                <a:latin typeface="Times New Roman MT"/>
                <a:ea typeface="Times New Roman MT"/>
                <a:cs typeface="Times New Roman MT"/>
                <a:sym typeface="Times New Roman MT"/>
              </a:rPr>
              <a:t>Enables analysis of </a:t>
            </a:r>
            <a:r>
              <a:rPr lang="en-US" sz="2600" b="1" spc="2">
                <a:solidFill>
                  <a:srgbClr val="000000">
                    <a:alpha val="69804"/>
                  </a:srgbClr>
                </a:solidFill>
                <a:latin typeface="Times New Roman MT Bold"/>
                <a:ea typeface="Times New Roman MT Bold"/>
                <a:cs typeface="Times New Roman MT Bold"/>
                <a:sym typeface="Times New Roman MT Bold"/>
              </a:rPr>
              <a:t>consumption patterns, product preferences, and inventory/assortment needs.</a:t>
            </a:r>
          </a:p>
        </p:txBody>
      </p:sp>
      <p:sp>
        <p:nvSpPr>
          <p:cNvPr id="10" name="TextBox 10"/>
          <p:cNvSpPr txBox="1"/>
          <p:nvPr/>
        </p:nvSpPr>
        <p:spPr>
          <a:xfrm>
            <a:off x="864494" y="6843219"/>
            <a:ext cx="8115300" cy="2781935"/>
          </a:xfrm>
          <a:prstGeom prst="rect">
            <a:avLst/>
          </a:prstGeom>
        </p:spPr>
        <p:txBody>
          <a:bodyPr lIns="0" tIns="0" rIns="0" bIns="0" rtlCol="0" anchor="t">
            <a:spAutoFit/>
          </a:bodyPr>
          <a:lstStyle/>
          <a:p>
            <a:pPr algn="just">
              <a:lnSpc>
                <a:spcPts val="3640"/>
              </a:lnSpc>
            </a:pPr>
            <a:r>
              <a:rPr lang="en-US" sz="2600" spc="2">
                <a:solidFill>
                  <a:srgbClr val="000000">
                    <a:alpha val="69804"/>
                  </a:srgbClr>
                </a:solidFill>
                <a:latin typeface="Times New Roman MT"/>
                <a:ea typeface="Times New Roman MT"/>
                <a:cs typeface="Times New Roman MT"/>
                <a:sym typeface="Times New Roman MT"/>
              </a:rPr>
              <a:t>Determine </a:t>
            </a:r>
            <a:r>
              <a:rPr lang="en-US" sz="2600" b="1" spc="2">
                <a:solidFill>
                  <a:srgbClr val="000000">
                    <a:alpha val="69804"/>
                  </a:srgbClr>
                </a:solidFill>
                <a:latin typeface="Times New Roman MT Bold"/>
                <a:ea typeface="Times New Roman MT Bold"/>
                <a:cs typeface="Times New Roman MT Bold"/>
                <a:sym typeface="Times New Roman MT Bold"/>
              </a:rPr>
              <a:t>consumption behavior</a:t>
            </a:r>
            <a:r>
              <a:rPr lang="en-US" sz="2600" spc="2">
                <a:solidFill>
                  <a:srgbClr val="000000">
                    <a:alpha val="69804"/>
                  </a:srgbClr>
                </a:solidFill>
                <a:latin typeface="Times New Roman MT"/>
                <a:ea typeface="Times New Roman MT"/>
                <a:cs typeface="Times New Roman MT"/>
                <a:sym typeface="Times New Roman MT"/>
              </a:rPr>
              <a:t> and </a:t>
            </a:r>
            <a:r>
              <a:rPr lang="en-US" sz="2600" b="1" spc="2">
                <a:solidFill>
                  <a:srgbClr val="000000">
                    <a:alpha val="69804"/>
                  </a:srgbClr>
                </a:solidFill>
                <a:latin typeface="Times New Roman MT Bold"/>
                <a:ea typeface="Times New Roman MT Bold"/>
                <a:cs typeface="Times New Roman MT Bold"/>
                <a:sym typeface="Times New Roman MT Bold"/>
              </a:rPr>
              <a:t>measure differences</a:t>
            </a:r>
            <a:r>
              <a:rPr lang="en-US" sz="2600" spc="2">
                <a:solidFill>
                  <a:srgbClr val="000000">
                    <a:alpha val="69804"/>
                  </a:srgbClr>
                </a:solidFill>
                <a:latin typeface="Times New Roman MT"/>
                <a:ea typeface="Times New Roman MT"/>
                <a:cs typeface="Times New Roman MT"/>
                <a:sym typeface="Times New Roman MT"/>
              </a:rPr>
              <a:t> between various consumer groups in terms of product categories, brands, products, and package sizes. Insights gained can support </a:t>
            </a:r>
            <a:r>
              <a:rPr lang="en-US" sz="2600" b="1" spc="2">
                <a:solidFill>
                  <a:srgbClr val="000000">
                    <a:alpha val="69804"/>
                  </a:srgbClr>
                </a:solidFill>
                <a:latin typeface="Times New Roman MT Bold"/>
                <a:ea typeface="Times New Roman MT Bold"/>
                <a:cs typeface="Times New Roman MT Bold"/>
                <a:sym typeface="Times New Roman MT Bold"/>
              </a:rPr>
              <a:t>real-time inventory, assortment, and stocking decisions</a:t>
            </a:r>
            <a:r>
              <a:rPr lang="en-US" sz="2600" spc="2">
                <a:solidFill>
                  <a:srgbClr val="000000">
                    <a:alpha val="69804"/>
                  </a:srgbClr>
                </a:solidFill>
                <a:latin typeface="Times New Roman MT"/>
                <a:ea typeface="Times New Roman MT"/>
                <a:cs typeface="Times New Roman MT"/>
                <a:sym typeface="Times New Roman MT"/>
              </a:rPr>
              <a:t> through an interactive Power BI dashboard.</a:t>
            </a:r>
          </a:p>
        </p:txBody>
      </p:sp>
      <p:sp>
        <p:nvSpPr>
          <p:cNvPr id="11" name="TextBox 11"/>
          <p:cNvSpPr txBox="1"/>
          <p:nvPr/>
        </p:nvSpPr>
        <p:spPr>
          <a:xfrm>
            <a:off x="9643190" y="481616"/>
            <a:ext cx="2727932" cy="581025"/>
          </a:xfrm>
          <a:prstGeom prst="rect">
            <a:avLst/>
          </a:prstGeom>
        </p:spPr>
        <p:txBody>
          <a:bodyPr lIns="0" tIns="0" rIns="0" bIns="0" rtlCol="0" anchor="t">
            <a:spAutoFit/>
          </a:bodyPr>
          <a:lstStyle/>
          <a:p>
            <a:pPr algn="l">
              <a:lnSpc>
                <a:spcPts val="4200"/>
              </a:lnSpc>
            </a:pPr>
            <a:r>
              <a:rPr lang="en-US" sz="3000" b="1" spc="6">
                <a:solidFill>
                  <a:srgbClr val="000000"/>
                </a:solidFill>
                <a:latin typeface="Times New Roman MT Bold"/>
                <a:ea typeface="Times New Roman MT Bold"/>
                <a:cs typeface="Times New Roman MT Bold"/>
                <a:sym typeface="Times New Roman MT Bold"/>
              </a:rPr>
              <a:t>TECH STACK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15606461" y="6337647"/>
            <a:ext cx="1077509" cy="0"/>
          </a:xfrm>
          <a:prstGeom prst="line">
            <a:avLst/>
          </a:prstGeom>
          <a:ln w="95250" cap="flat">
            <a:solidFill>
              <a:srgbClr val="FF5347"/>
            </a:solidFill>
            <a:prstDash val="solid"/>
            <a:headEnd type="none" w="sm" len="sm"/>
            <a:tailEnd type="none" w="sm" len="sm"/>
          </a:ln>
        </p:spPr>
        <p:txBody>
          <a:bodyPr/>
          <a:lstStyle/>
          <a:p>
            <a:endParaRPr lang="en-IN"/>
          </a:p>
        </p:txBody>
      </p:sp>
      <p:sp>
        <p:nvSpPr>
          <p:cNvPr id="3" name="Freeform 3"/>
          <p:cNvSpPr/>
          <p:nvPr/>
        </p:nvSpPr>
        <p:spPr>
          <a:xfrm flipH="1" flipV="1">
            <a:off x="0" y="0"/>
            <a:ext cx="6614109" cy="10287000"/>
          </a:xfrm>
          <a:custGeom>
            <a:avLst/>
            <a:gdLst/>
            <a:ahLst/>
            <a:cxnLst/>
            <a:rect l="l" t="t" r="r" b="b"/>
            <a:pathLst>
              <a:path w="6614109" h="10287000">
                <a:moveTo>
                  <a:pt x="6614109" y="10287000"/>
                </a:moveTo>
                <a:lnTo>
                  <a:pt x="0" y="10287000"/>
                </a:lnTo>
                <a:lnTo>
                  <a:pt x="0" y="0"/>
                </a:lnTo>
                <a:lnTo>
                  <a:pt x="6614109" y="0"/>
                </a:lnTo>
                <a:lnTo>
                  <a:pt x="6614109" y="10287000"/>
                </a:lnTo>
                <a:close/>
              </a:path>
            </a:pathLst>
          </a:custGeom>
          <a:blipFill>
            <a:blip r:embed="rId2"/>
            <a:stretch>
              <a:fillRect t="-14295" r="-99999" b="-14295"/>
            </a:stretch>
          </a:blipFill>
        </p:spPr>
        <p:txBody>
          <a:bodyPr/>
          <a:lstStyle/>
          <a:p>
            <a:endParaRPr lang="en-IN"/>
          </a:p>
        </p:txBody>
      </p:sp>
      <p:sp>
        <p:nvSpPr>
          <p:cNvPr id="4" name="TextBox 4"/>
          <p:cNvSpPr txBox="1"/>
          <p:nvPr/>
        </p:nvSpPr>
        <p:spPr>
          <a:xfrm>
            <a:off x="11635310" y="2530045"/>
            <a:ext cx="5077235" cy="3082267"/>
          </a:xfrm>
          <a:prstGeom prst="rect">
            <a:avLst/>
          </a:prstGeom>
        </p:spPr>
        <p:txBody>
          <a:bodyPr lIns="0" tIns="0" rIns="0" bIns="0" rtlCol="0" anchor="t">
            <a:spAutoFit/>
          </a:bodyPr>
          <a:lstStyle/>
          <a:p>
            <a:pPr algn="r">
              <a:lnSpc>
                <a:spcPts val="11761"/>
              </a:lnSpc>
            </a:pPr>
            <a:r>
              <a:rPr lang="en-US" sz="8400" b="1" spc="-336">
                <a:solidFill>
                  <a:srgbClr val="000000"/>
                </a:solidFill>
                <a:latin typeface="Times New Roman MT Bold"/>
                <a:ea typeface="Times New Roman MT Bold"/>
                <a:cs typeface="Times New Roman MT Bold"/>
                <a:sym typeface="Times New Roman MT Bold"/>
              </a:rPr>
              <a:t>THANK</a:t>
            </a:r>
          </a:p>
          <a:p>
            <a:pPr algn="r">
              <a:lnSpc>
                <a:spcPts val="11761"/>
              </a:lnSpc>
            </a:pPr>
            <a:r>
              <a:rPr lang="en-US" sz="8400" b="1" spc="-336">
                <a:solidFill>
                  <a:srgbClr val="000000"/>
                </a:solidFill>
                <a:latin typeface="Times New Roman MT Bold"/>
                <a:ea typeface="Times New Roman MT Bold"/>
                <a:cs typeface="Times New Roman MT Bold"/>
                <a:sym typeface="Times New Roman MT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760</Words>
  <Application>Microsoft Office PowerPoint</Application>
  <PresentationFormat>Custom</PresentationFormat>
  <Paragraphs>87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Times New Roman MT</vt:lpstr>
      <vt:lpstr>Calibri</vt:lpstr>
      <vt:lpstr>Arial</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cp:lastModifiedBy>Poojitha D</cp:lastModifiedBy>
  <cp:revision>5</cp:revision>
  <dcterms:created xsi:type="dcterms:W3CDTF">2006-08-16T00:00:00Z</dcterms:created>
  <dcterms:modified xsi:type="dcterms:W3CDTF">2026-08-28T04:27:09Z</dcterms:modified>
  <dc:identifier>DAHTFFUY48k</dc:identifier>
</cp:coreProperties>
</file>